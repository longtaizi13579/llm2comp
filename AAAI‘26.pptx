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4" r:id="rId9"/>
    <p:sldId id="263" r:id="rId10"/>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246" autoAdjust="0"/>
    <p:restoredTop sz="69010" autoAdjust="0"/>
  </p:normalViewPr>
  <p:slideViewPr>
    <p:cSldViewPr snapToGrid="0">
      <p:cViewPr varScale="1">
        <p:scale>
          <a:sx n="87" d="100"/>
          <a:sy n="87" d="100"/>
        </p:scale>
        <p:origin x="1668" y="1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DC3A97D-DED6-4946-905A-CFA54EFE79E1}" type="datetimeFigureOut">
              <a:rPr lang="zh-CN" altLang="en-US" smtClean="0"/>
              <a:t>2025/12/20</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DDB829B-3566-49B5-9C0B-F9BAFF4710B0}" type="slidenum">
              <a:rPr lang="zh-CN" altLang="en-US" smtClean="0"/>
              <a:t>‹#›</a:t>
            </a:fld>
            <a:endParaRPr lang="zh-CN" altLang="en-US"/>
          </a:p>
        </p:txBody>
      </p:sp>
    </p:spTree>
    <p:extLst>
      <p:ext uri="{BB962C8B-B14F-4D97-AF65-F5344CB8AC3E}">
        <p14:creationId xmlns:p14="http://schemas.microsoft.com/office/powerpoint/2010/main" val="8291856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Hello, everyone. My name is Yeqin Zhang, and I am the first author of this paper. It is my pleasure to present our work. The title of our paper is Learning to Compress: Unlocking the Potential of Large Language Models for Text Representation.</a:t>
            </a:r>
          </a:p>
          <a:p>
            <a:endParaRPr lang="zh-CN" altLang="en-US" dirty="0"/>
          </a:p>
        </p:txBody>
      </p:sp>
      <p:sp>
        <p:nvSpPr>
          <p:cNvPr id="4" name="灯片编号占位符 3"/>
          <p:cNvSpPr>
            <a:spLocks noGrp="1"/>
          </p:cNvSpPr>
          <p:nvPr>
            <p:ph type="sldNum" sz="quarter" idx="5"/>
          </p:nvPr>
        </p:nvSpPr>
        <p:spPr/>
        <p:txBody>
          <a:bodyPr/>
          <a:lstStyle/>
          <a:p>
            <a:fld id="{4DDB829B-3566-49B5-9C0B-F9BAFF4710B0}" type="slidenum">
              <a:rPr lang="zh-CN" altLang="en-US" smtClean="0"/>
              <a:t>1</a:t>
            </a:fld>
            <a:endParaRPr lang="zh-CN" altLang="en-US"/>
          </a:p>
        </p:txBody>
      </p:sp>
    </p:spTree>
    <p:extLst>
      <p:ext uri="{BB962C8B-B14F-4D97-AF65-F5344CB8AC3E}">
        <p14:creationId xmlns:p14="http://schemas.microsoft.com/office/powerpoint/2010/main" val="10693686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First, I will introduce a key concept: context compression. Context compression reduces a long context into a compact text embedding or a short token sequence for large language models (LLMs), while preserving the key information.</a:t>
            </a:r>
            <a:endParaRPr lang="zh-CN" altLang="en-US" dirty="0"/>
          </a:p>
        </p:txBody>
      </p:sp>
      <p:sp>
        <p:nvSpPr>
          <p:cNvPr id="4" name="灯片编号占位符 3"/>
          <p:cNvSpPr>
            <a:spLocks noGrp="1"/>
          </p:cNvSpPr>
          <p:nvPr>
            <p:ph type="sldNum" sz="quarter" idx="5"/>
          </p:nvPr>
        </p:nvSpPr>
        <p:spPr/>
        <p:txBody>
          <a:bodyPr/>
          <a:lstStyle/>
          <a:p>
            <a:fld id="{4DDB829B-3566-49B5-9C0B-F9BAFF4710B0}" type="slidenum">
              <a:rPr lang="zh-CN" altLang="en-US" smtClean="0"/>
              <a:t>2</a:t>
            </a:fld>
            <a:endParaRPr lang="zh-CN" altLang="en-US"/>
          </a:p>
        </p:txBody>
      </p:sp>
    </p:spTree>
    <p:extLst>
      <p:ext uri="{BB962C8B-B14F-4D97-AF65-F5344CB8AC3E}">
        <p14:creationId xmlns:p14="http://schemas.microsoft.com/office/powerpoint/2010/main" val="30202439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Our motivation comes from two main considerations.</a:t>
            </a:r>
          </a:p>
          <a:p>
            <a:r>
              <a:rPr lang="en-US" altLang="zh-CN" dirty="0"/>
              <a:t>First, most current LLMs are causal and trained for next-token prediction. As a result, they are not naturally optimized to produce a single holistic representation for an entire sequence.</a:t>
            </a:r>
          </a:p>
          <a:p>
            <a:r>
              <a:rPr lang="en-US" altLang="zh-CN" dirty="0"/>
              <a:t>Second, many alternative pretext tasks are still fundamentally token-level, rather than sequence-level prediction. For example, LLM2Vec first modifies the causal attention of an LLM into a bidirectional form, and then uses masked next token prediction (MNTP) to better match the training objective of bidirectional encoders such as BERT. In MNTP, tokens are randomly masked, and the model uses context to predict the masked tokens. Llama2vec adopts two pretext tasks, Embedding-Based Auto-Encoding (EBAE) and Embedding-Based Auto-Regression (EBAR), which predict tokens in the original sequence or in a continued sequence. While these objectives can capture “bag-of-tokens” information, they still struggle to preserve the coherent semantic meaning of the full sequence as a single representation.</a:t>
            </a:r>
          </a:p>
          <a:p>
            <a:endParaRPr lang="en-US" altLang="zh-CN" dirty="0"/>
          </a:p>
          <a:p>
            <a:endParaRPr lang="zh-CN" altLang="en-US" dirty="0"/>
          </a:p>
        </p:txBody>
      </p:sp>
      <p:sp>
        <p:nvSpPr>
          <p:cNvPr id="4" name="灯片编号占位符 3"/>
          <p:cNvSpPr>
            <a:spLocks noGrp="1"/>
          </p:cNvSpPr>
          <p:nvPr>
            <p:ph type="sldNum" sz="quarter" idx="5"/>
          </p:nvPr>
        </p:nvSpPr>
        <p:spPr/>
        <p:txBody>
          <a:bodyPr/>
          <a:lstStyle/>
          <a:p>
            <a:fld id="{4DDB829B-3566-49B5-9C0B-F9BAFF4710B0}" type="slidenum">
              <a:rPr lang="zh-CN" altLang="en-US" smtClean="0"/>
              <a:t>3</a:t>
            </a:fld>
            <a:endParaRPr lang="zh-CN" altLang="en-US"/>
          </a:p>
        </p:txBody>
      </p:sp>
    </p:spTree>
    <p:extLst>
      <p:ext uri="{BB962C8B-B14F-4D97-AF65-F5344CB8AC3E}">
        <p14:creationId xmlns:p14="http://schemas.microsoft.com/office/powerpoint/2010/main" val="30059600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Next, I will summarize our contributions.</a:t>
            </a:r>
          </a:p>
          <a:p>
            <a:r>
              <a:rPr lang="en-US" altLang="zh-CN" dirty="0"/>
              <a:t>First, we systematically study compression pretraining as a way to adapt LLMs for text representation. Through empirical analysis, we identify key factors for success, including the best training objective (CTKD) and the appropriate number of memory tokens.</a:t>
            </a:r>
          </a:p>
          <a:p>
            <a:r>
              <a:rPr lang="en-US" altLang="zh-CN" dirty="0"/>
              <a:t>Second, we analyze why CTKD outperforms other compression objectives, and show that it is less affected by dimensional collapse, which makes it better suited for downstream text representation.</a:t>
            </a:r>
          </a:p>
          <a:p>
            <a:r>
              <a:rPr lang="en-US" altLang="zh-CN" dirty="0"/>
              <a:t>Third, we show that adding contrastive learning further reduces dimensional collapse. With CTKD as a strong foundation, our model,LLM2Comp-kl, significantly outperforms recent methods such as LLM2Vec and LLaMA2Vec, while using less training data.</a:t>
            </a:r>
            <a:endParaRPr lang="zh-CN" altLang="en-US" dirty="0"/>
          </a:p>
        </p:txBody>
      </p:sp>
      <p:sp>
        <p:nvSpPr>
          <p:cNvPr id="4" name="灯片编号占位符 3"/>
          <p:cNvSpPr>
            <a:spLocks noGrp="1"/>
          </p:cNvSpPr>
          <p:nvPr>
            <p:ph type="sldNum" sz="quarter" idx="5"/>
          </p:nvPr>
        </p:nvSpPr>
        <p:spPr/>
        <p:txBody>
          <a:bodyPr/>
          <a:lstStyle/>
          <a:p>
            <a:fld id="{4DDB829B-3566-49B5-9C0B-F9BAFF4710B0}" type="slidenum">
              <a:rPr lang="zh-CN" altLang="en-US" smtClean="0"/>
              <a:t>4</a:t>
            </a:fld>
            <a:endParaRPr lang="zh-CN" altLang="en-US"/>
          </a:p>
        </p:txBody>
      </p:sp>
    </p:spTree>
    <p:extLst>
      <p:ext uri="{BB962C8B-B14F-4D97-AF65-F5344CB8AC3E}">
        <p14:creationId xmlns:p14="http://schemas.microsoft.com/office/powerpoint/2010/main" val="40763194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Now I will introduce our method. We treat compression as a pretext task to capture sequence-level information. We consider two compression tasks: reconstruction and continuation. To further improve encoder training, we propose a third pretext task that combines the continuation objective with knowledge distillation (CTKD). Here .. means ....</a:t>
            </a:r>
          </a:p>
          <a:p>
            <a:endParaRPr lang="en-US" altLang="zh-CN" dirty="0"/>
          </a:p>
          <a:p>
            <a:endParaRPr lang="zh-CN" altLang="en-US" dirty="0"/>
          </a:p>
        </p:txBody>
      </p:sp>
      <p:sp>
        <p:nvSpPr>
          <p:cNvPr id="4" name="灯片编号占位符 3"/>
          <p:cNvSpPr>
            <a:spLocks noGrp="1"/>
          </p:cNvSpPr>
          <p:nvPr>
            <p:ph type="sldNum" sz="quarter" idx="5"/>
          </p:nvPr>
        </p:nvSpPr>
        <p:spPr/>
        <p:txBody>
          <a:bodyPr/>
          <a:lstStyle/>
          <a:p>
            <a:fld id="{4DDB829B-3566-49B5-9C0B-F9BAFF4710B0}" type="slidenum">
              <a:rPr lang="zh-CN" altLang="en-US" smtClean="0"/>
              <a:t>5</a:t>
            </a:fld>
            <a:endParaRPr lang="zh-CN" altLang="en-US"/>
          </a:p>
        </p:txBody>
      </p:sp>
    </p:spTree>
    <p:extLst>
      <p:ext uri="{BB962C8B-B14F-4D97-AF65-F5344CB8AC3E}">
        <p14:creationId xmlns:p14="http://schemas.microsoft.com/office/powerpoint/2010/main" val="5135136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After pretext-task training, we follow a standard representation learning setup: we first run unsupervised contrastive learning (UCL) and then supervised contrastive learning (SCL). For UCL, we construct positive samples for the same sentence using dropout, and treat other sentences in the batch as negatives. We then perform SCL using supervised data, where relevant pairs are manually annotated. Negative samples are selected using in-batch negative sampling and hard-negative sampling. Here .. means ....</a:t>
            </a:r>
          </a:p>
          <a:p>
            <a:endParaRPr lang="en-US" altLang="zh-CN" dirty="0"/>
          </a:p>
          <a:p>
            <a:endParaRPr lang="zh-CN" altLang="en-US" dirty="0"/>
          </a:p>
        </p:txBody>
      </p:sp>
      <p:sp>
        <p:nvSpPr>
          <p:cNvPr id="4" name="灯片编号占位符 3"/>
          <p:cNvSpPr>
            <a:spLocks noGrp="1"/>
          </p:cNvSpPr>
          <p:nvPr>
            <p:ph type="sldNum" sz="quarter" idx="5"/>
          </p:nvPr>
        </p:nvSpPr>
        <p:spPr/>
        <p:txBody>
          <a:bodyPr/>
          <a:lstStyle/>
          <a:p>
            <a:fld id="{4DDB829B-3566-49B5-9C0B-F9BAFF4710B0}" type="slidenum">
              <a:rPr lang="zh-CN" altLang="en-US" smtClean="0"/>
              <a:t>6</a:t>
            </a:fld>
            <a:endParaRPr lang="zh-CN" altLang="en-US"/>
          </a:p>
        </p:txBody>
      </p:sp>
    </p:spTree>
    <p:extLst>
      <p:ext uri="{BB962C8B-B14F-4D97-AF65-F5344CB8AC3E}">
        <p14:creationId xmlns:p14="http://schemas.microsoft.com/office/powerpoint/2010/main" val="270253942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Next, I will present our experimental results. This figure shows results for the pretext-task stage. </a:t>
            </a:r>
          </a:p>
          <a:p>
            <a:r>
              <a:rPr lang="en-US" altLang="zh-CN" dirty="0"/>
              <a:t>We see that LLM2Comp-reconstruction performs only slightly better than a simple last-token pooling baseline. </a:t>
            </a:r>
          </a:p>
          <a:p>
            <a:r>
              <a:rPr lang="en-US" altLang="zh-CN" dirty="0"/>
              <a:t>In contrast, continuation-based objectives produce large improvements: both LLM2Comp-NLL and LLM2Comp-KL significantly outperform LLM2Vec, LLaMA2Vec, and other training-free baselines by a wide margin. Moreover, combining continuation with knowledge distillation (LLM2Comp-KL / CTKD) is more suitable for text representation than combining continuation with an NLL objective. </a:t>
            </a:r>
          </a:p>
          <a:p>
            <a:r>
              <a:rPr lang="en-US" altLang="zh-CN" dirty="0"/>
              <a:t>From the left figure, we also observe that LLM2Comp-KL shows more stable training behavior than LLM2Comp-NLL and LLM2Comp-reconstruction.</a:t>
            </a:r>
            <a:endParaRPr lang="zh-CN" altLang="en-US" dirty="0"/>
          </a:p>
        </p:txBody>
      </p:sp>
      <p:sp>
        <p:nvSpPr>
          <p:cNvPr id="4" name="灯片编号占位符 3"/>
          <p:cNvSpPr>
            <a:spLocks noGrp="1"/>
          </p:cNvSpPr>
          <p:nvPr>
            <p:ph type="sldNum" sz="quarter" idx="5"/>
          </p:nvPr>
        </p:nvSpPr>
        <p:spPr/>
        <p:txBody>
          <a:bodyPr/>
          <a:lstStyle/>
          <a:p>
            <a:fld id="{4DDB829B-3566-49B5-9C0B-F9BAFF4710B0}" type="slidenum">
              <a:rPr lang="zh-CN" altLang="en-US" smtClean="0"/>
              <a:t>7</a:t>
            </a:fld>
            <a:endParaRPr lang="zh-CN" altLang="en-US"/>
          </a:p>
        </p:txBody>
      </p:sp>
    </p:spTree>
    <p:extLst>
      <p:ext uri="{BB962C8B-B14F-4D97-AF65-F5344CB8AC3E}">
        <p14:creationId xmlns:p14="http://schemas.microsoft.com/office/powerpoint/2010/main" val="3570285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This figure shows results after contrastive learning, including both the UCL stage and the SCL stage. </a:t>
            </a:r>
          </a:p>
          <a:p>
            <a:r>
              <a:rPr lang="en-US" altLang="zh-CN" dirty="0"/>
              <a:t>In UCL, LLM2Comp-KL surpasses LLM2Vec, which shows that the benefit of our compression-based pretext task transfers to later training. </a:t>
            </a:r>
          </a:p>
          <a:p>
            <a:r>
              <a:rPr lang="en-US" altLang="zh-CN" dirty="0"/>
              <a:t>In SCL after UCL, LLM2Comp-KL remains stronger than LLM2Vec and other recent models. </a:t>
            </a:r>
          </a:p>
          <a:p>
            <a:r>
              <a:rPr lang="en-US" altLang="zh-CN" dirty="0"/>
              <a:t>Importantly, LLM2Comp-KL achieves this using much less supervised data than LLM2Vec.</a:t>
            </a:r>
          </a:p>
          <a:p>
            <a:endParaRPr lang="en-US" altLang="zh-CN" dirty="0"/>
          </a:p>
          <a:p>
            <a:endParaRPr lang="zh-CN" altLang="en-US" dirty="0"/>
          </a:p>
        </p:txBody>
      </p:sp>
      <p:sp>
        <p:nvSpPr>
          <p:cNvPr id="4" name="灯片编号占位符 3"/>
          <p:cNvSpPr>
            <a:spLocks noGrp="1"/>
          </p:cNvSpPr>
          <p:nvPr>
            <p:ph type="sldNum" sz="quarter" idx="5"/>
          </p:nvPr>
        </p:nvSpPr>
        <p:spPr/>
        <p:txBody>
          <a:bodyPr/>
          <a:lstStyle/>
          <a:p>
            <a:fld id="{4DDB829B-3566-49B5-9C0B-F9BAFF4710B0}" type="slidenum">
              <a:rPr lang="zh-CN" altLang="en-US" smtClean="0"/>
              <a:t>8</a:t>
            </a:fld>
            <a:endParaRPr lang="zh-CN" altLang="en-US"/>
          </a:p>
        </p:txBody>
      </p:sp>
    </p:spTree>
    <p:extLst>
      <p:ext uri="{BB962C8B-B14F-4D97-AF65-F5344CB8AC3E}">
        <p14:creationId xmlns:p14="http://schemas.microsoft.com/office/powerpoint/2010/main" val="1048272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Finally, I will discuss our findings on dimensional collapse. </a:t>
            </a:r>
          </a:p>
          <a:p>
            <a:r>
              <a:rPr lang="en-US" altLang="zh-CN" dirty="0"/>
              <a:t>After training with the compression pretext tasks, we analyze the effective dimension of representations using SVD. We find that the curve for LLM2Comp-NLL drops toward zero much faster than the curve for LLM2Comp-KL, indicating that LLM2Comp-NLL suffers more severe dimensional collapse. Intuitively, the KL divergence acts as a </a:t>
            </a:r>
            <a:r>
              <a:rPr lang="en-US" altLang="zh-CN" dirty="0" err="1"/>
              <a:t>regularizer</a:t>
            </a:r>
            <a:r>
              <a:rPr lang="en-US" altLang="zh-CN" dirty="0"/>
              <a:t>: it helps preserve information from less frequent tokens, which reduces this collapse. </a:t>
            </a:r>
          </a:p>
          <a:p>
            <a:r>
              <a:rPr lang="en-US" altLang="zh-CN" dirty="0"/>
              <a:t>The figures on the right show correlations among memory tokens for LLM2Comp-KL and LLM2Comp-NLL. We observe high similarity among memory tokens from LLM2Comp-NLL, suggesting that memory-token similarity has a strong effect on downstream performance. To address this issue, we propose a clustering-then-merging method, which improves overall results.</a:t>
            </a:r>
            <a:endParaRPr lang="zh-CN" altLang="en-US" dirty="0"/>
          </a:p>
        </p:txBody>
      </p:sp>
      <p:sp>
        <p:nvSpPr>
          <p:cNvPr id="4" name="灯片编号占位符 3"/>
          <p:cNvSpPr>
            <a:spLocks noGrp="1"/>
          </p:cNvSpPr>
          <p:nvPr>
            <p:ph type="sldNum" sz="quarter" idx="5"/>
          </p:nvPr>
        </p:nvSpPr>
        <p:spPr/>
        <p:txBody>
          <a:bodyPr/>
          <a:lstStyle/>
          <a:p>
            <a:fld id="{4DDB829B-3566-49B5-9C0B-F9BAFF4710B0}" type="slidenum">
              <a:rPr lang="zh-CN" altLang="en-US" smtClean="0"/>
              <a:t>9</a:t>
            </a:fld>
            <a:endParaRPr lang="zh-CN" altLang="en-US"/>
          </a:p>
        </p:txBody>
      </p:sp>
    </p:spTree>
    <p:extLst>
      <p:ext uri="{BB962C8B-B14F-4D97-AF65-F5344CB8AC3E}">
        <p14:creationId xmlns:p14="http://schemas.microsoft.com/office/powerpoint/2010/main" val="27100192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FE27DD9-1058-4967-8D4A-2FCA4BF027D2}"/>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87B543AA-19FA-4BAC-A4C1-63002142964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5DF49EDA-EBEB-47D8-AF29-2F2F6DE17839}"/>
              </a:ext>
            </a:extLst>
          </p:cNvPr>
          <p:cNvSpPr>
            <a:spLocks noGrp="1"/>
          </p:cNvSpPr>
          <p:nvPr>
            <p:ph type="dt" sz="half" idx="10"/>
          </p:nvPr>
        </p:nvSpPr>
        <p:spPr/>
        <p:txBody>
          <a:bodyPr/>
          <a:lstStyle/>
          <a:p>
            <a:fld id="{6EA30A1F-CFDF-4FEC-AD57-E259B3D7FDA3}" type="datetimeFigureOut">
              <a:rPr lang="zh-CN" altLang="en-US" smtClean="0"/>
              <a:t>2025/12/20</a:t>
            </a:fld>
            <a:endParaRPr lang="zh-CN" altLang="en-US"/>
          </a:p>
        </p:txBody>
      </p:sp>
      <p:sp>
        <p:nvSpPr>
          <p:cNvPr id="5" name="页脚占位符 4">
            <a:extLst>
              <a:ext uri="{FF2B5EF4-FFF2-40B4-BE49-F238E27FC236}">
                <a16:creationId xmlns:a16="http://schemas.microsoft.com/office/drawing/2014/main" id="{9F872930-D124-4F9B-BC65-24014544CEDA}"/>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850EF80F-3ED1-4EFF-9DCB-C74B71EACF4A}"/>
              </a:ext>
            </a:extLst>
          </p:cNvPr>
          <p:cNvSpPr>
            <a:spLocks noGrp="1"/>
          </p:cNvSpPr>
          <p:nvPr>
            <p:ph type="sldNum" sz="quarter" idx="12"/>
          </p:nvPr>
        </p:nvSpPr>
        <p:spPr/>
        <p:txBody>
          <a:bodyPr/>
          <a:lstStyle/>
          <a:p>
            <a:fld id="{9B9EFE5E-1BCA-45A7-9DAB-A81E46291004}" type="slidenum">
              <a:rPr lang="zh-CN" altLang="en-US" smtClean="0"/>
              <a:t>‹#›</a:t>
            </a:fld>
            <a:endParaRPr lang="zh-CN" altLang="en-US"/>
          </a:p>
        </p:txBody>
      </p:sp>
    </p:spTree>
    <p:extLst>
      <p:ext uri="{BB962C8B-B14F-4D97-AF65-F5344CB8AC3E}">
        <p14:creationId xmlns:p14="http://schemas.microsoft.com/office/powerpoint/2010/main" val="41709526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69D0E77-975E-4416-82C0-D551B07F102A}"/>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666D79CC-5554-4E75-805C-AD853B1F983C}"/>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6E11A3D0-2724-4D9D-9916-9A28242D4208}"/>
              </a:ext>
            </a:extLst>
          </p:cNvPr>
          <p:cNvSpPr>
            <a:spLocks noGrp="1"/>
          </p:cNvSpPr>
          <p:nvPr>
            <p:ph type="dt" sz="half" idx="10"/>
          </p:nvPr>
        </p:nvSpPr>
        <p:spPr/>
        <p:txBody>
          <a:bodyPr/>
          <a:lstStyle/>
          <a:p>
            <a:fld id="{6EA30A1F-CFDF-4FEC-AD57-E259B3D7FDA3}" type="datetimeFigureOut">
              <a:rPr lang="zh-CN" altLang="en-US" smtClean="0"/>
              <a:t>2025/12/20</a:t>
            </a:fld>
            <a:endParaRPr lang="zh-CN" altLang="en-US"/>
          </a:p>
        </p:txBody>
      </p:sp>
      <p:sp>
        <p:nvSpPr>
          <p:cNvPr id="5" name="页脚占位符 4">
            <a:extLst>
              <a:ext uri="{FF2B5EF4-FFF2-40B4-BE49-F238E27FC236}">
                <a16:creationId xmlns:a16="http://schemas.microsoft.com/office/drawing/2014/main" id="{AD408495-F51C-4461-AC63-947752DC18EC}"/>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8641D981-BA05-4FBF-BF85-154EF126C427}"/>
              </a:ext>
            </a:extLst>
          </p:cNvPr>
          <p:cNvSpPr>
            <a:spLocks noGrp="1"/>
          </p:cNvSpPr>
          <p:nvPr>
            <p:ph type="sldNum" sz="quarter" idx="12"/>
          </p:nvPr>
        </p:nvSpPr>
        <p:spPr/>
        <p:txBody>
          <a:bodyPr/>
          <a:lstStyle/>
          <a:p>
            <a:fld id="{9B9EFE5E-1BCA-45A7-9DAB-A81E46291004}" type="slidenum">
              <a:rPr lang="zh-CN" altLang="en-US" smtClean="0"/>
              <a:t>‹#›</a:t>
            </a:fld>
            <a:endParaRPr lang="zh-CN" altLang="en-US"/>
          </a:p>
        </p:txBody>
      </p:sp>
    </p:spTree>
    <p:extLst>
      <p:ext uri="{BB962C8B-B14F-4D97-AF65-F5344CB8AC3E}">
        <p14:creationId xmlns:p14="http://schemas.microsoft.com/office/powerpoint/2010/main" val="25967039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2FDAF70-2503-4782-BE97-3D83A065DE86}"/>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EF62A9AF-D5F1-47F7-A77D-A9BAC63179F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35C2F10B-F72E-492F-A947-7C38644503F8}"/>
              </a:ext>
            </a:extLst>
          </p:cNvPr>
          <p:cNvSpPr>
            <a:spLocks noGrp="1"/>
          </p:cNvSpPr>
          <p:nvPr>
            <p:ph type="dt" sz="half" idx="10"/>
          </p:nvPr>
        </p:nvSpPr>
        <p:spPr/>
        <p:txBody>
          <a:bodyPr/>
          <a:lstStyle/>
          <a:p>
            <a:fld id="{6EA30A1F-CFDF-4FEC-AD57-E259B3D7FDA3}" type="datetimeFigureOut">
              <a:rPr lang="zh-CN" altLang="en-US" smtClean="0"/>
              <a:t>2025/12/20</a:t>
            </a:fld>
            <a:endParaRPr lang="zh-CN" altLang="en-US"/>
          </a:p>
        </p:txBody>
      </p:sp>
      <p:sp>
        <p:nvSpPr>
          <p:cNvPr id="5" name="页脚占位符 4">
            <a:extLst>
              <a:ext uri="{FF2B5EF4-FFF2-40B4-BE49-F238E27FC236}">
                <a16:creationId xmlns:a16="http://schemas.microsoft.com/office/drawing/2014/main" id="{5B2EB31B-6842-4881-B416-FDE2AAD516B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DAE5394-4BD5-4076-8746-ED4E69A98694}"/>
              </a:ext>
            </a:extLst>
          </p:cNvPr>
          <p:cNvSpPr>
            <a:spLocks noGrp="1"/>
          </p:cNvSpPr>
          <p:nvPr>
            <p:ph type="sldNum" sz="quarter" idx="12"/>
          </p:nvPr>
        </p:nvSpPr>
        <p:spPr/>
        <p:txBody>
          <a:bodyPr/>
          <a:lstStyle/>
          <a:p>
            <a:fld id="{9B9EFE5E-1BCA-45A7-9DAB-A81E46291004}" type="slidenum">
              <a:rPr lang="zh-CN" altLang="en-US" smtClean="0"/>
              <a:t>‹#›</a:t>
            </a:fld>
            <a:endParaRPr lang="zh-CN" altLang="en-US"/>
          </a:p>
        </p:txBody>
      </p:sp>
    </p:spTree>
    <p:extLst>
      <p:ext uri="{BB962C8B-B14F-4D97-AF65-F5344CB8AC3E}">
        <p14:creationId xmlns:p14="http://schemas.microsoft.com/office/powerpoint/2010/main" val="3470232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C53001B-E5FB-4444-8355-F1704833D146}"/>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7C3B9413-7EA6-462A-AA92-845393117C4C}"/>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B0D1E1BF-96EF-4467-BC9C-226076DEDDF1}"/>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FB1543BE-FC06-42E0-A076-74B67412C858}"/>
              </a:ext>
            </a:extLst>
          </p:cNvPr>
          <p:cNvSpPr>
            <a:spLocks noGrp="1"/>
          </p:cNvSpPr>
          <p:nvPr>
            <p:ph type="dt" sz="half" idx="10"/>
          </p:nvPr>
        </p:nvSpPr>
        <p:spPr/>
        <p:txBody>
          <a:bodyPr/>
          <a:lstStyle/>
          <a:p>
            <a:fld id="{6EA30A1F-CFDF-4FEC-AD57-E259B3D7FDA3}" type="datetimeFigureOut">
              <a:rPr lang="zh-CN" altLang="en-US" smtClean="0"/>
              <a:t>2025/12/20</a:t>
            </a:fld>
            <a:endParaRPr lang="zh-CN" altLang="en-US"/>
          </a:p>
        </p:txBody>
      </p:sp>
      <p:sp>
        <p:nvSpPr>
          <p:cNvPr id="6" name="页脚占位符 5">
            <a:extLst>
              <a:ext uri="{FF2B5EF4-FFF2-40B4-BE49-F238E27FC236}">
                <a16:creationId xmlns:a16="http://schemas.microsoft.com/office/drawing/2014/main" id="{B897D393-74AD-4CCB-B9BD-0EBAE00822E7}"/>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07DA59DD-69B9-4EE2-A057-E75AC3F917B4}"/>
              </a:ext>
            </a:extLst>
          </p:cNvPr>
          <p:cNvSpPr>
            <a:spLocks noGrp="1"/>
          </p:cNvSpPr>
          <p:nvPr>
            <p:ph type="sldNum" sz="quarter" idx="12"/>
          </p:nvPr>
        </p:nvSpPr>
        <p:spPr/>
        <p:txBody>
          <a:bodyPr/>
          <a:lstStyle/>
          <a:p>
            <a:fld id="{9B9EFE5E-1BCA-45A7-9DAB-A81E46291004}" type="slidenum">
              <a:rPr lang="zh-CN" altLang="en-US" smtClean="0"/>
              <a:t>‹#›</a:t>
            </a:fld>
            <a:endParaRPr lang="zh-CN" altLang="en-US"/>
          </a:p>
        </p:txBody>
      </p:sp>
    </p:spTree>
    <p:extLst>
      <p:ext uri="{BB962C8B-B14F-4D97-AF65-F5344CB8AC3E}">
        <p14:creationId xmlns:p14="http://schemas.microsoft.com/office/powerpoint/2010/main" val="42494356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C1F773D-7BC0-43BD-8ADF-BE26369229F3}"/>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EC28B733-DA0E-4A1C-905A-C30C6434A13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CD942D19-C714-42C2-9936-E6EA25414C37}"/>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F63F6F42-4ECF-4817-8549-E50CC518DFB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46CE64F8-8AF7-4770-BE75-0E7ADECBAE23}"/>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33A50170-2E7C-411D-BD89-85B6A8CA5EA8}"/>
              </a:ext>
            </a:extLst>
          </p:cNvPr>
          <p:cNvSpPr>
            <a:spLocks noGrp="1"/>
          </p:cNvSpPr>
          <p:nvPr>
            <p:ph type="dt" sz="half" idx="10"/>
          </p:nvPr>
        </p:nvSpPr>
        <p:spPr/>
        <p:txBody>
          <a:bodyPr/>
          <a:lstStyle/>
          <a:p>
            <a:fld id="{6EA30A1F-CFDF-4FEC-AD57-E259B3D7FDA3}" type="datetimeFigureOut">
              <a:rPr lang="zh-CN" altLang="en-US" smtClean="0"/>
              <a:t>2025/12/20</a:t>
            </a:fld>
            <a:endParaRPr lang="zh-CN" altLang="en-US"/>
          </a:p>
        </p:txBody>
      </p:sp>
      <p:sp>
        <p:nvSpPr>
          <p:cNvPr id="8" name="页脚占位符 7">
            <a:extLst>
              <a:ext uri="{FF2B5EF4-FFF2-40B4-BE49-F238E27FC236}">
                <a16:creationId xmlns:a16="http://schemas.microsoft.com/office/drawing/2014/main" id="{E47EBD67-9806-421B-9F72-BADE7B490C94}"/>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24B278DA-3BA0-4F42-B2DE-3FF382162BC4}"/>
              </a:ext>
            </a:extLst>
          </p:cNvPr>
          <p:cNvSpPr>
            <a:spLocks noGrp="1"/>
          </p:cNvSpPr>
          <p:nvPr>
            <p:ph type="sldNum" sz="quarter" idx="12"/>
          </p:nvPr>
        </p:nvSpPr>
        <p:spPr/>
        <p:txBody>
          <a:bodyPr/>
          <a:lstStyle/>
          <a:p>
            <a:fld id="{9B9EFE5E-1BCA-45A7-9DAB-A81E46291004}" type="slidenum">
              <a:rPr lang="zh-CN" altLang="en-US" smtClean="0"/>
              <a:t>‹#›</a:t>
            </a:fld>
            <a:endParaRPr lang="zh-CN" altLang="en-US"/>
          </a:p>
        </p:txBody>
      </p:sp>
    </p:spTree>
    <p:extLst>
      <p:ext uri="{BB962C8B-B14F-4D97-AF65-F5344CB8AC3E}">
        <p14:creationId xmlns:p14="http://schemas.microsoft.com/office/powerpoint/2010/main" val="15006489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511C142-DC87-4D43-9761-8D66D7F5416B}"/>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0C7D8DA9-8D16-4B2B-8291-5B0EB5622B19}"/>
              </a:ext>
            </a:extLst>
          </p:cNvPr>
          <p:cNvSpPr>
            <a:spLocks noGrp="1"/>
          </p:cNvSpPr>
          <p:nvPr>
            <p:ph type="dt" sz="half" idx="10"/>
          </p:nvPr>
        </p:nvSpPr>
        <p:spPr/>
        <p:txBody>
          <a:bodyPr/>
          <a:lstStyle/>
          <a:p>
            <a:fld id="{6EA30A1F-CFDF-4FEC-AD57-E259B3D7FDA3}" type="datetimeFigureOut">
              <a:rPr lang="zh-CN" altLang="en-US" smtClean="0"/>
              <a:t>2025/12/20</a:t>
            </a:fld>
            <a:endParaRPr lang="zh-CN" altLang="en-US"/>
          </a:p>
        </p:txBody>
      </p:sp>
      <p:sp>
        <p:nvSpPr>
          <p:cNvPr id="4" name="页脚占位符 3">
            <a:extLst>
              <a:ext uri="{FF2B5EF4-FFF2-40B4-BE49-F238E27FC236}">
                <a16:creationId xmlns:a16="http://schemas.microsoft.com/office/drawing/2014/main" id="{94A9E824-EBDC-445E-BF2F-D94726917C00}"/>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15789932-3A71-448E-AF75-C51B20622B04}"/>
              </a:ext>
            </a:extLst>
          </p:cNvPr>
          <p:cNvSpPr>
            <a:spLocks noGrp="1"/>
          </p:cNvSpPr>
          <p:nvPr>
            <p:ph type="sldNum" sz="quarter" idx="12"/>
          </p:nvPr>
        </p:nvSpPr>
        <p:spPr/>
        <p:txBody>
          <a:bodyPr/>
          <a:lstStyle/>
          <a:p>
            <a:fld id="{9B9EFE5E-1BCA-45A7-9DAB-A81E46291004}" type="slidenum">
              <a:rPr lang="zh-CN" altLang="en-US" smtClean="0"/>
              <a:t>‹#›</a:t>
            </a:fld>
            <a:endParaRPr lang="zh-CN" altLang="en-US"/>
          </a:p>
        </p:txBody>
      </p:sp>
    </p:spTree>
    <p:extLst>
      <p:ext uri="{BB962C8B-B14F-4D97-AF65-F5344CB8AC3E}">
        <p14:creationId xmlns:p14="http://schemas.microsoft.com/office/powerpoint/2010/main" val="29974979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F5ACFF13-79E3-4537-8526-6F6D8A298854}"/>
              </a:ext>
            </a:extLst>
          </p:cNvPr>
          <p:cNvSpPr>
            <a:spLocks noGrp="1"/>
          </p:cNvSpPr>
          <p:nvPr>
            <p:ph type="dt" sz="half" idx="10"/>
          </p:nvPr>
        </p:nvSpPr>
        <p:spPr/>
        <p:txBody>
          <a:bodyPr/>
          <a:lstStyle/>
          <a:p>
            <a:fld id="{6EA30A1F-CFDF-4FEC-AD57-E259B3D7FDA3}" type="datetimeFigureOut">
              <a:rPr lang="zh-CN" altLang="en-US" smtClean="0"/>
              <a:t>2025/12/20</a:t>
            </a:fld>
            <a:endParaRPr lang="zh-CN" altLang="en-US"/>
          </a:p>
        </p:txBody>
      </p:sp>
      <p:sp>
        <p:nvSpPr>
          <p:cNvPr id="3" name="页脚占位符 2">
            <a:extLst>
              <a:ext uri="{FF2B5EF4-FFF2-40B4-BE49-F238E27FC236}">
                <a16:creationId xmlns:a16="http://schemas.microsoft.com/office/drawing/2014/main" id="{DE15CC2B-4320-40E0-AF2E-BA854A4E266A}"/>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0336CFC1-8494-48E0-85F7-0DAB01DE9355}"/>
              </a:ext>
            </a:extLst>
          </p:cNvPr>
          <p:cNvSpPr>
            <a:spLocks noGrp="1"/>
          </p:cNvSpPr>
          <p:nvPr>
            <p:ph type="sldNum" sz="quarter" idx="12"/>
          </p:nvPr>
        </p:nvSpPr>
        <p:spPr/>
        <p:txBody>
          <a:bodyPr/>
          <a:lstStyle/>
          <a:p>
            <a:fld id="{9B9EFE5E-1BCA-45A7-9DAB-A81E46291004}" type="slidenum">
              <a:rPr lang="zh-CN" altLang="en-US" smtClean="0"/>
              <a:t>‹#›</a:t>
            </a:fld>
            <a:endParaRPr lang="zh-CN" altLang="en-US"/>
          </a:p>
        </p:txBody>
      </p:sp>
    </p:spTree>
    <p:extLst>
      <p:ext uri="{BB962C8B-B14F-4D97-AF65-F5344CB8AC3E}">
        <p14:creationId xmlns:p14="http://schemas.microsoft.com/office/powerpoint/2010/main" val="39360179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7F25DA0-E60C-4C46-9F9D-EB51ABC4E53E}"/>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56EFAA6B-BB11-48C2-A357-18FF24FC12A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209AFB75-009B-4719-958E-135938B9D04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A99884AE-8E9F-4B77-8F2B-5B3E47D8820F}"/>
              </a:ext>
            </a:extLst>
          </p:cNvPr>
          <p:cNvSpPr>
            <a:spLocks noGrp="1"/>
          </p:cNvSpPr>
          <p:nvPr>
            <p:ph type="dt" sz="half" idx="10"/>
          </p:nvPr>
        </p:nvSpPr>
        <p:spPr/>
        <p:txBody>
          <a:bodyPr/>
          <a:lstStyle/>
          <a:p>
            <a:fld id="{6EA30A1F-CFDF-4FEC-AD57-E259B3D7FDA3}" type="datetimeFigureOut">
              <a:rPr lang="zh-CN" altLang="en-US" smtClean="0"/>
              <a:t>2025/12/20</a:t>
            </a:fld>
            <a:endParaRPr lang="zh-CN" altLang="en-US"/>
          </a:p>
        </p:txBody>
      </p:sp>
      <p:sp>
        <p:nvSpPr>
          <p:cNvPr id="6" name="页脚占位符 5">
            <a:extLst>
              <a:ext uri="{FF2B5EF4-FFF2-40B4-BE49-F238E27FC236}">
                <a16:creationId xmlns:a16="http://schemas.microsoft.com/office/drawing/2014/main" id="{6843ED56-D968-4E6E-94AD-57634AB9AA82}"/>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3C609500-A41A-42A6-ACC1-78C1B06B6959}"/>
              </a:ext>
            </a:extLst>
          </p:cNvPr>
          <p:cNvSpPr>
            <a:spLocks noGrp="1"/>
          </p:cNvSpPr>
          <p:nvPr>
            <p:ph type="sldNum" sz="quarter" idx="12"/>
          </p:nvPr>
        </p:nvSpPr>
        <p:spPr/>
        <p:txBody>
          <a:bodyPr/>
          <a:lstStyle/>
          <a:p>
            <a:fld id="{9B9EFE5E-1BCA-45A7-9DAB-A81E46291004}" type="slidenum">
              <a:rPr lang="zh-CN" altLang="en-US" smtClean="0"/>
              <a:t>‹#›</a:t>
            </a:fld>
            <a:endParaRPr lang="zh-CN" altLang="en-US"/>
          </a:p>
        </p:txBody>
      </p:sp>
    </p:spTree>
    <p:extLst>
      <p:ext uri="{BB962C8B-B14F-4D97-AF65-F5344CB8AC3E}">
        <p14:creationId xmlns:p14="http://schemas.microsoft.com/office/powerpoint/2010/main" val="16160630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03D75C7-EB8D-4A00-B54D-70274EF7D430}"/>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2B5E147C-6D2D-4EBF-B42C-B5694926DBD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24685631-3D16-4D6F-88DB-B09CAF1DD18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A95D4C5C-74B4-420D-82ED-51B427BCBF90}"/>
              </a:ext>
            </a:extLst>
          </p:cNvPr>
          <p:cNvSpPr>
            <a:spLocks noGrp="1"/>
          </p:cNvSpPr>
          <p:nvPr>
            <p:ph type="dt" sz="half" idx="10"/>
          </p:nvPr>
        </p:nvSpPr>
        <p:spPr/>
        <p:txBody>
          <a:bodyPr/>
          <a:lstStyle/>
          <a:p>
            <a:fld id="{6EA30A1F-CFDF-4FEC-AD57-E259B3D7FDA3}" type="datetimeFigureOut">
              <a:rPr lang="zh-CN" altLang="en-US" smtClean="0"/>
              <a:t>2025/12/20</a:t>
            </a:fld>
            <a:endParaRPr lang="zh-CN" altLang="en-US"/>
          </a:p>
        </p:txBody>
      </p:sp>
      <p:sp>
        <p:nvSpPr>
          <p:cNvPr id="6" name="页脚占位符 5">
            <a:extLst>
              <a:ext uri="{FF2B5EF4-FFF2-40B4-BE49-F238E27FC236}">
                <a16:creationId xmlns:a16="http://schemas.microsoft.com/office/drawing/2014/main" id="{A17EA555-F547-40C3-BDEC-688A80919CC7}"/>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54FD4828-2B2D-4107-B1B4-9588E97B7BA6}"/>
              </a:ext>
            </a:extLst>
          </p:cNvPr>
          <p:cNvSpPr>
            <a:spLocks noGrp="1"/>
          </p:cNvSpPr>
          <p:nvPr>
            <p:ph type="sldNum" sz="quarter" idx="12"/>
          </p:nvPr>
        </p:nvSpPr>
        <p:spPr/>
        <p:txBody>
          <a:bodyPr/>
          <a:lstStyle/>
          <a:p>
            <a:fld id="{9B9EFE5E-1BCA-45A7-9DAB-A81E46291004}" type="slidenum">
              <a:rPr lang="zh-CN" altLang="en-US" smtClean="0"/>
              <a:t>‹#›</a:t>
            </a:fld>
            <a:endParaRPr lang="zh-CN" altLang="en-US"/>
          </a:p>
        </p:txBody>
      </p:sp>
    </p:spTree>
    <p:extLst>
      <p:ext uri="{BB962C8B-B14F-4D97-AF65-F5344CB8AC3E}">
        <p14:creationId xmlns:p14="http://schemas.microsoft.com/office/powerpoint/2010/main" val="29761408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05E13DE-31E6-4A85-B4C7-C0B3255537A5}"/>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26188BA8-CFC0-461C-B080-D8C39089D45F}"/>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79834FE0-9021-43B4-846D-34456A8B2828}"/>
              </a:ext>
            </a:extLst>
          </p:cNvPr>
          <p:cNvSpPr>
            <a:spLocks noGrp="1"/>
          </p:cNvSpPr>
          <p:nvPr>
            <p:ph type="dt" sz="half" idx="10"/>
          </p:nvPr>
        </p:nvSpPr>
        <p:spPr/>
        <p:txBody>
          <a:bodyPr/>
          <a:lstStyle/>
          <a:p>
            <a:fld id="{6EA30A1F-CFDF-4FEC-AD57-E259B3D7FDA3}" type="datetimeFigureOut">
              <a:rPr lang="zh-CN" altLang="en-US" smtClean="0"/>
              <a:t>2025/12/20</a:t>
            </a:fld>
            <a:endParaRPr lang="zh-CN" altLang="en-US"/>
          </a:p>
        </p:txBody>
      </p:sp>
      <p:sp>
        <p:nvSpPr>
          <p:cNvPr id="5" name="页脚占位符 4">
            <a:extLst>
              <a:ext uri="{FF2B5EF4-FFF2-40B4-BE49-F238E27FC236}">
                <a16:creationId xmlns:a16="http://schemas.microsoft.com/office/drawing/2014/main" id="{861ECCA2-7E5C-48D2-B2A0-EAF67BB2DC2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9AA8E3CA-38DC-4AFB-9328-8C4BC1778761}"/>
              </a:ext>
            </a:extLst>
          </p:cNvPr>
          <p:cNvSpPr>
            <a:spLocks noGrp="1"/>
          </p:cNvSpPr>
          <p:nvPr>
            <p:ph type="sldNum" sz="quarter" idx="12"/>
          </p:nvPr>
        </p:nvSpPr>
        <p:spPr/>
        <p:txBody>
          <a:bodyPr/>
          <a:lstStyle/>
          <a:p>
            <a:fld id="{9B9EFE5E-1BCA-45A7-9DAB-A81E46291004}" type="slidenum">
              <a:rPr lang="zh-CN" altLang="en-US" smtClean="0"/>
              <a:t>‹#›</a:t>
            </a:fld>
            <a:endParaRPr lang="zh-CN" altLang="en-US"/>
          </a:p>
        </p:txBody>
      </p:sp>
    </p:spTree>
    <p:extLst>
      <p:ext uri="{BB962C8B-B14F-4D97-AF65-F5344CB8AC3E}">
        <p14:creationId xmlns:p14="http://schemas.microsoft.com/office/powerpoint/2010/main" val="29951910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5F7F374F-7B09-4701-B9B5-4FB68F100D7C}"/>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D4A1509C-CA8A-40FD-B6D6-A65EA2C51C19}"/>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507F8470-EE9D-4D30-9FAA-EB700FAB588E}"/>
              </a:ext>
            </a:extLst>
          </p:cNvPr>
          <p:cNvSpPr>
            <a:spLocks noGrp="1"/>
          </p:cNvSpPr>
          <p:nvPr>
            <p:ph type="dt" sz="half" idx="10"/>
          </p:nvPr>
        </p:nvSpPr>
        <p:spPr/>
        <p:txBody>
          <a:bodyPr/>
          <a:lstStyle/>
          <a:p>
            <a:fld id="{6EA30A1F-CFDF-4FEC-AD57-E259B3D7FDA3}" type="datetimeFigureOut">
              <a:rPr lang="zh-CN" altLang="en-US" smtClean="0"/>
              <a:t>2025/12/20</a:t>
            </a:fld>
            <a:endParaRPr lang="zh-CN" altLang="en-US"/>
          </a:p>
        </p:txBody>
      </p:sp>
      <p:sp>
        <p:nvSpPr>
          <p:cNvPr id="5" name="页脚占位符 4">
            <a:extLst>
              <a:ext uri="{FF2B5EF4-FFF2-40B4-BE49-F238E27FC236}">
                <a16:creationId xmlns:a16="http://schemas.microsoft.com/office/drawing/2014/main" id="{5A3A94DC-7DDB-456E-8FC6-10F0DBD39FB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20DB53C8-024D-4BA5-B10D-C07369177FC2}"/>
              </a:ext>
            </a:extLst>
          </p:cNvPr>
          <p:cNvSpPr>
            <a:spLocks noGrp="1"/>
          </p:cNvSpPr>
          <p:nvPr>
            <p:ph type="sldNum" sz="quarter" idx="12"/>
          </p:nvPr>
        </p:nvSpPr>
        <p:spPr/>
        <p:txBody>
          <a:bodyPr/>
          <a:lstStyle/>
          <a:p>
            <a:fld id="{9B9EFE5E-1BCA-45A7-9DAB-A81E46291004}" type="slidenum">
              <a:rPr lang="zh-CN" altLang="en-US" smtClean="0"/>
              <a:t>‹#›</a:t>
            </a:fld>
            <a:endParaRPr lang="zh-CN" altLang="en-US"/>
          </a:p>
        </p:txBody>
      </p:sp>
    </p:spTree>
    <p:extLst>
      <p:ext uri="{BB962C8B-B14F-4D97-AF65-F5344CB8AC3E}">
        <p14:creationId xmlns:p14="http://schemas.microsoft.com/office/powerpoint/2010/main" val="41862742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A2D82EE6-AC64-47BB-8B31-BBD0A5A7AED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F063E1C5-218E-470A-9325-ACAA238B163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384D0BEB-FCFA-404B-8098-2E1BE7FCDB7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EA30A1F-CFDF-4FEC-AD57-E259B3D7FDA3}" type="datetimeFigureOut">
              <a:rPr lang="zh-CN" altLang="en-US" smtClean="0"/>
              <a:t>2025/12/20</a:t>
            </a:fld>
            <a:endParaRPr lang="zh-CN" altLang="en-US"/>
          </a:p>
        </p:txBody>
      </p:sp>
      <p:sp>
        <p:nvSpPr>
          <p:cNvPr id="5" name="页脚占位符 4">
            <a:extLst>
              <a:ext uri="{FF2B5EF4-FFF2-40B4-BE49-F238E27FC236}">
                <a16:creationId xmlns:a16="http://schemas.microsoft.com/office/drawing/2014/main" id="{8C824B34-94A2-47C4-A428-D408F2315E3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428158C8-EE6F-40BC-8D06-20FEA7789DD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9EFE5E-1BCA-45A7-9DAB-A81E46291004}" type="slidenum">
              <a:rPr lang="zh-CN" altLang="en-US" smtClean="0"/>
              <a:t>‹#›</a:t>
            </a:fld>
            <a:endParaRPr lang="zh-CN" altLang="en-US"/>
          </a:p>
        </p:txBody>
      </p:sp>
    </p:spTree>
    <p:extLst>
      <p:ext uri="{BB962C8B-B14F-4D97-AF65-F5344CB8AC3E}">
        <p14:creationId xmlns:p14="http://schemas.microsoft.com/office/powerpoint/2010/main" val="308323479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7.jpg"/><Relationship Id="rId5" Type="http://schemas.openxmlformats.org/officeDocument/2006/relationships/image" Target="../media/image6.jp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8.jpg"/><Relationship Id="rId7"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3.png"/><Relationship Id="rId7"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7.png"/><Relationship Id="rId7" Type="http://schemas.openxmlformats.org/officeDocument/2006/relationships/image" Target="../media/image20.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3.png"/><Relationship Id="rId4" Type="http://schemas.openxmlformats.org/officeDocument/2006/relationships/image" Target="../media/image18.png"/></Relationships>
</file>

<file path=ppt/slides/_rels/slide8.xml.rels><?xml version="1.0" encoding="UTF-8" standalone="yes"?>
<Relationships xmlns="http://schemas.openxmlformats.org/package/2006/relationships"><Relationship Id="rId3" Type="http://schemas.openxmlformats.org/officeDocument/2006/relationships/image" Target="../media/image22.png"/><Relationship Id="rId7" Type="http://schemas.openxmlformats.org/officeDocument/2006/relationships/image" Target="../media/image25.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6.png"/><Relationship Id="rId7" Type="http://schemas.openxmlformats.org/officeDocument/2006/relationships/image" Target="../media/image29.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28.jpg"/><Relationship Id="rId5" Type="http://schemas.openxmlformats.org/officeDocument/2006/relationships/image" Target="../media/image27.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5D06E3E-6115-41D2-8C1F-D802247D1697}"/>
              </a:ext>
            </a:extLst>
          </p:cNvPr>
          <p:cNvSpPr>
            <a:spLocks noGrp="1"/>
          </p:cNvSpPr>
          <p:nvPr>
            <p:ph type="ctrTitle"/>
          </p:nvPr>
        </p:nvSpPr>
        <p:spPr>
          <a:xfrm>
            <a:off x="1523998" y="2693673"/>
            <a:ext cx="9144000" cy="1686537"/>
          </a:xfrm>
        </p:spPr>
        <p:txBody>
          <a:bodyPr>
            <a:noAutofit/>
          </a:bodyPr>
          <a:lstStyle/>
          <a:p>
            <a:r>
              <a:rPr lang="en-US" altLang="zh-CN" sz="3200" b="1" dirty="0">
                <a:latin typeface="+mn-lt"/>
              </a:rPr>
              <a:t>Learning to Compress:</a:t>
            </a:r>
            <a:br>
              <a:rPr lang="en-US" altLang="zh-CN" sz="3200" b="1" dirty="0">
                <a:latin typeface="+mn-lt"/>
              </a:rPr>
            </a:br>
            <a:r>
              <a:rPr lang="en-US" altLang="zh-CN" sz="3200" b="1" dirty="0">
                <a:latin typeface="+mn-lt"/>
              </a:rPr>
              <a:t>Unlocking the Potential of Large Language Models for Text Representation</a:t>
            </a:r>
            <a:r>
              <a:rPr lang="zh-CN" altLang="en-US" sz="3200" dirty="0">
                <a:latin typeface="+mn-lt"/>
              </a:rPr>
              <a:t> </a:t>
            </a:r>
          </a:p>
        </p:txBody>
      </p:sp>
      <p:sp>
        <p:nvSpPr>
          <p:cNvPr id="13" name="文本框 12">
            <a:extLst>
              <a:ext uri="{FF2B5EF4-FFF2-40B4-BE49-F238E27FC236}">
                <a16:creationId xmlns:a16="http://schemas.microsoft.com/office/drawing/2014/main" id="{F2AB7CA7-1BBE-4D67-861C-FF1369D98F96}"/>
              </a:ext>
            </a:extLst>
          </p:cNvPr>
          <p:cNvSpPr txBox="1"/>
          <p:nvPr/>
        </p:nvSpPr>
        <p:spPr>
          <a:xfrm>
            <a:off x="1814997" y="4608874"/>
            <a:ext cx="8562002" cy="830997"/>
          </a:xfrm>
          <a:prstGeom prst="rect">
            <a:avLst/>
          </a:prstGeom>
          <a:noFill/>
        </p:spPr>
        <p:txBody>
          <a:bodyPr wrap="square">
            <a:spAutoFit/>
          </a:bodyPr>
          <a:lstStyle/>
          <a:p>
            <a:pPr algn="ctr"/>
            <a:r>
              <a:rPr lang="en-US" altLang="zh-CN" sz="2400" b="1" dirty="0"/>
              <a:t> Yeqin Zhang,</a:t>
            </a:r>
            <a:r>
              <a:rPr lang="zh-CN" altLang="en-US" sz="2400" b="1" dirty="0"/>
              <a:t> </a:t>
            </a:r>
            <a:r>
              <a:rPr lang="en-US" altLang="zh-CN" sz="2400" b="1" dirty="0" err="1"/>
              <a:t>Yizheng</a:t>
            </a:r>
            <a:r>
              <a:rPr lang="en-US" altLang="zh-CN" sz="2400" b="1" dirty="0"/>
              <a:t> Zhao,</a:t>
            </a:r>
            <a:r>
              <a:rPr lang="zh-CN" altLang="en-US" sz="2400" b="1" dirty="0"/>
              <a:t> </a:t>
            </a:r>
            <a:r>
              <a:rPr lang="en-US" altLang="zh-CN" sz="2400" b="1" dirty="0"/>
              <a:t>Chen Hu,</a:t>
            </a:r>
            <a:r>
              <a:rPr lang="zh-CN" altLang="en-US" sz="2400" b="1" dirty="0"/>
              <a:t> </a:t>
            </a:r>
            <a:r>
              <a:rPr lang="en-US" altLang="zh-CN" sz="2400" b="1" dirty="0" err="1"/>
              <a:t>Binxing</a:t>
            </a:r>
            <a:r>
              <a:rPr lang="en-US" altLang="zh-CN" sz="2400" b="1" dirty="0"/>
              <a:t> Jiao,</a:t>
            </a:r>
            <a:r>
              <a:rPr lang="zh-CN" altLang="en-US" sz="2400" b="1" dirty="0"/>
              <a:t> </a:t>
            </a:r>
            <a:r>
              <a:rPr lang="en-US" altLang="zh-CN" sz="2400" b="1" dirty="0" err="1"/>
              <a:t>Daxin</a:t>
            </a:r>
            <a:r>
              <a:rPr lang="en-US" altLang="zh-CN" sz="2400" b="1" dirty="0"/>
              <a:t> Jiang,</a:t>
            </a:r>
            <a:r>
              <a:rPr lang="zh-CN" altLang="en-US" sz="2400" b="1" dirty="0"/>
              <a:t> </a:t>
            </a:r>
            <a:r>
              <a:rPr lang="en-US" altLang="zh-CN" sz="2400" b="1" dirty="0" err="1"/>
              <a:t>Ruihang</a:t>
            </a:r>
            <a:r>
              <a:rPr lang="en-US" altLang="zh-CN" sz="2400" b="1" dirty="0"/>
              <a:t> Miao,</a:t>
            </a:r>
            <a:r>
              <a:rPr lang="zh-CN" altLang="en-US" sz="2400" b="1" dirty="0"/>
              <a:t> </a:t>
            </a:r>
            <a:r>
              <a:rPr lang="en-US" altLang="zh-CN" sz="2400" b="1" dirty="0"/>
              <a:t>Cam-Tu Nguyen</a:t>
            </a:r>
            <a:endParaRPr lang="zh-CN" altLang="en-US" sz="2400" dirty="0"/>
          </a:p>
        </p:txBody>
      </p:sp>
      <p:pic>
        <p:nvPicPr>
          <p:cNvPr id="7" name="Google Shape;69;p15" title="Screenshot 2025-07-09 122742.png">
            <a:extLst>
              <a:ext uri="{FF2B5EF4-FFF2-40B4-BE49-F238E27FC236}">
                <a16:creationId xmlns:a16="http://schemas.microsoft.com/office/drawing/2014/main" id="{6D01F6AC-A887-44F5-8ADF-A5123E3B28F4}"/>
              </a:ext>
            </a:extLst>
          </p:cNvPr>
          <p:cNvPicPr preferRelativeResize="0"/>
          <p:nvPr/>
        </p:nvPicPr>
        <p:blipFill>
          <a:blip r:embed="rId3">
            <a:alphaModFix/>
          </a:blip>
          <a:stretch>
            <a:fillRect/>
          </a:stretch>
        </p:blipFill>
        <p:spPr>
          <a:xfrm>
            <a:off x="0" y="4576"/>
            <a:ext cx="12192000" cy="2593481"/>
          </a:xfrm>
          <a:prstGeom prst="rect">
            <a:avLst/>
          </a:prstGeom>
          <a:noFill/>
          <a:ln>
            <a:noFill/>
          </a:ln>
        </p:spPr>
      </p:pic>
      <p:pic>
        <p:nvPicPr>
          <p:cNvPr id="8" name="图片 7">
            <a:extLst>
              <a:ext uri="{FF2B5EF4-FFF2-40B4-BE49-F238E27FC236}">
                <a16:creationId xmlns:a16="http://schemas.microsoft.com/office/drawing/2014/main" id="{8977EC4D-3458-4366-8195-385F9B5BF30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923893" y="5668535"/>
            <a:ext cx="8344209" cy="928710"/>
          </a:xfrm>
          <a:prstGeom prst="rect">
            <a:avLst/>
          </a:prstGeom>
        </p:spPr>
      </p:pic>
    </p:spTree>
    <p:extLst>
      <p:ext uri="{BB962C8B-B14F-4D97-AF65-F5344CB8AC3E}">
        <p14:creationId xmlns:p14="http://schemas.microsoft.com/office/powerpoint/2010/main" val="37171715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椭圆 10">
            <a:extLst>
              <a:ext uri="{FF2B5EF4-FFF2-40B4-BE49-F238E27FC236}">
                <a16:creationId xmlns:a16="http://schemas.microsoft.com/office/drawing/2014/main" id="{8E289B97-3EA5-028E-444A-8EB3690D5F5D}"/>
              </a:ext>
            </a:extLst>
          </p:cNvPr>
          <p:cNvSpPr/>
          <p:nvPr/>
        </p:nvSpPr>
        <p:spPr>
          <a:xfrm>
            <a:off x="-217832" y="-426322"/>
            <a:ext cx="2344420" cy="2344420"/>
          </a:xfrm>
          <a:prstGeom prst="ellipse">
            <a:avLst/>
          </a:prstGeom>
          <a:solidFill>
            <a:srgbClr val="A6B1C6">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lt1"/>
              </a:solidFill>
              <a:cs typeface="思源黑体 CN Normal" panose="020B0400000000000000" charset="-122"/>
            </a:endParaRPr>
          </a:p>
        </p:txBody>
      </p:sp>
      <p:grpSp>
        <p:nvGrpSpPr>
          <p:cNvPr id="12" name="组合 11">
            <a:extLst>
              <a:ext uri="{FF2B5EF4-FFF2-40B4-BE49-F238E27FC236}">
                <a16:creationId xmlns:a16="http://schemas.microsoft.com/office/drawing/2014/main" id="{D7ACDA95-F13B-2F0F-BEC1-8641B80CDE83}"/>
              </a:ext>
            </a:extLst>
          </p:cNvPr>
          <p:cNvGrpSpPr/>
          <p:nvPr/>
        </p:nvGrpSpPr>
        <p:grpSpPr>
          <a:xfrm>
            <a:off x="-121136" y="7448"/>
            <a:ext cx="12313136" cy="1198477"/>
            <a:chOff x="6121" y="1678"/>
            <a:chExt cx="19370" cy="1470"/>
          </a:xfrm>
        </p:grpSpPr>
        <p:sp>
          <p:nvSpPr>
            <p:cNvPr id="15" name="平行四边形 14">
              <a:extLst>
                <a:ext uri="{FF2B5EF4-FFF2-40B4-BE49-F238E27FC236}">
                  <a16:creationId xmlns:a16="http://schemas.microsoft.com/office/drawing/2014/main" id="{53D7386B-8F06-7F51-62BF-1D778A964F11}"/>
                </a:ext>
              </a:extLst>
            </p:cNvPr>
            <p:cNvSpPr/>
            <p:nvPr/>
          </p:nvSpPr>
          <p:spPr>
            <a:xfrm rot="16200000">
              <a:off x="7584" y="2177"/>
              <a:ext cx="1470" cy="472"/>
            </a:xfrm>
            <a:prstGeom prst="parallelogram">
              <a:avLst>
                <a:gd name="adj" fmla="val 76588"/>
              </a:avLst>
            </a:prstGeom>
            <a:solidFill>
              <a:srgbClr val="515983"/>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6" name="平行四边形 15">
              <a:extLst>
                <a:ext uri="{FF2B5EF4-FFF2-40B4-BE49-F238E27FC236}">
                  <a16:creationId xmlns:a16="http://schemas.microsoft.com/office/drawing/2014/main" id="{CA87F104-0887-07B3-BE33-5B8FEA5FD472}"/>
                </a:ext>
              </a:extLst>
            </p:cNvPr>
            <p:cNvSpPr/>
            <p:nvPr/>
          </p:nvSpPr>
          <p:spPr>
            <a:xfrm rot="20760000">
              <a:off x="6121" y="1913"/>
              <a:ext cx="2130" cy="1064"/>
            </a:xfrm>
            <a:prstGeom prst="parallelogram">
              <a:avLst/>
            </a:prstGeom>
            <a:gradFill>
              <a:gsLst>
                <a:gs pos="100000">
                  <a:srgbClr val="515983"/>
                </a:gs>
                <a:gs pos="0">
                  <a:srgbClr val="515983">
                    <a:alpha val="51000"/>
                  </a:srgbClr>
                </a:gs>
              </a:gsLst>
              <a:lin ang="162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7" name="矩形 16">
              <a:extLst>
                <a:ext uri="{FF2B5EF4-FFF2-40B4-BE49-F238E27FC236}">
                  <a16:creationId xmlns:a16="http://schemas.microsoft.com/office/drawing/2014/main" id="{1279C17D-BC90-0BD1-5AB5-AFEEE2260364}"/>
                </a:ext>
              </a:extLst>
            </p:cNvPr>
            <p:cNvSpPr/>
            <p:nvPr/>
          </p:nvSpPr>
          <p:spPr>
            <a:xfrm>
              <a:off x="8540" y="2032"/>
              <a:ext cx="16951" cy="1106"/>
            </a:xfrm>
            <a:prstGeom prst="rect">
              <a:avLst/>
            </a:prstGeom>
            <a:gradFill>
              <a:gsLst>
                <a:gs pos="100000">
                  <a:srgbClr val="5F85C3"/>
                </a:gs>
                <a:gs pos="0">
                  <a:srgbClr val="515983"/>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sp>
        <p:nvSpPr>
          <p:cNvPr id="13" name="文本框 17">
            <a:extLst>
              <a:ext uri="{FF2B5EF4-FFF2-40B4-BE49-F238E27FC236}">
                <a16:creationId xmlns:a16="http://schemas.microsoft.com/office/drawing/2014/main" id="{831A12D7-C3D3-65E0-CE7C-E92B0A1D4F10}"/>
              </a:ext>
            </a:extLst>
          </p:cNvPr>
          <p:cNvSpPr txBox="1"/>
          <p:nvPr/>
        </p:nvSpPr>
        <p:spPr>
          <a:xfrm rot="20700000">
            <a:off x="123434" y="327464"/>
            <a:ext cx="1009650" cy="645160"/>
          </a:xfrm>
          <a:prstGeom prst="rect">
            <a:avLst/>
          </a:prstGeom>
          <a:noFill/>
          <a:ln w="9525">
            <a:noFill/>
          </a:ln>
        </p:spPr>
        <p:txBody>
          <a:bodyPr wrap="square" anchor="ctr" anchorCtr="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ctr"/>
            <a:r>
              <a:rPr lang="en-US" altLang="zh-CN" sz="3600" b="1" dirty="0">
                <a:solidFill>
                  <a:schemeClr val="bg1"/>
                </a:solidFill>
                <a:latin typeface="微软雅黑" panose="020B0503020204020204" charset="-122"/>
                <a:ea typeface="微软雅黑" panose="020B0503020204020204" charset="-122"/>
                <a:cs typeface="思源黑体 CN Normal" panose="020B0400000000000000" charset="-122"/>
              </a:rPr>
              <a:t>01</a:t>
            </a:r>
          </a:p>
        </p:txBody>
      </p:sp>
      <p:sp>
        <p:nvSpPr>
          <p:cNvPr id="14" name="文本框 3">
            <a:extLst>
              <a:ext uri="{FF2B5EF4-FFF2-40B4-BE49-F238E27FC236}">
                <a16:creationId xmlns:a16="http://schemas.microsoft.com/office/drawing/2014/main" id="{0E09A78A-3AA6-34D7-38D8-A21A06EA63F9}"/>
              </a:ext>
            </a:extLst>
          </p:cNvPr>
          <p:cNvSpPr txBox="1"/>
          <p:nvPr/>
        </p:nvSpPr>
        <p:spPr>
          <a:xfrm>
            <a:off x="1416576" y="453500"/>
            <a:ext cx="4191000" cy="58477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ctr"/>
            <a:r>
              <a:rPr lang="en-US" altLang="zh-CN" sz="3200" b="1" dirty="0">
                <a:solidFill>
                  <a:schemeClr val="bg1"/>
                </a:solidFill>
                <a:latin typeface="微软雅黑" panose="020B0503020204020204" charset="-122"/>
                <a:ea typeface="微软雅黑" panose="020B0503020204020204" charset="-122"/>
                <a:cs typeface="思源黑体 CN Normal" panose="020B0400000000000000" charset="-122"/>
                <a:sym typeface="+mn-ea"/>
              </a:rPr>
              <a:t>Introduction</a:t>
            </a:r>
            <a:endParaRPr lang="zh-CN" altLang="en-US" sz="3200" b="1" dirty="0">
              <a:solidFill>
                <a:schemeClr val="bg1"/>
              </a:solidFill>
              <a:latin typeface="微软雅黑" panose="020B0503020204020204" charset="-122"/>
              <a:ea typeface="微软雅黑" panose="020B0503020204020204" charset="-122"/>
              <a:cs typeface="思源黑体 CN Normal" panose="020B0400000000000000" charset="-122"/>
              <a:sym typeface="+mn-ea"/>
            </a:endParaRPr>
          </a:p>
        </p:txBody>
      </p:sp>
      <p:pic>
        <p:nvPicPr>
          <p:cNvPr id="2050" name="Picture 2">
            <a:extLst>
              <a:ext uri="{FF2B5EF4-FFF2-40B4-BE49-F238E27FC236}">
                <a16:creationId xmlns:a16="http://schemas.microsoft.com/office/drawing/2014/main" id="{2DA4C3AB-DFF7-49DA-91A2-6A2C4A2D9E9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72176" y="297592"/>
            <a:ext cx="1392495" cy="867988"/>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
        <p:nvSpPr>
          <p:cNvPr id="19" name="文本框 18">
            <a:extLst>
              <a:ext uri="{FF2B5EF4-FFF2-40B4-BE49-F238E27FC236}">
                <a16:creationId xmlns:a16="http://schemas.microsoft.com/office/drawing/2014/main" id="{6A7F0EA1-6208-4567-8978-C88B3B5B9B12}"/>
              </a:ext>
            </a:extLst>
          </p:cNvPr>
          <p:cNvSpPr txBox="1"/>
          <p:nvPr/>
        </p:nvSpPr>
        <p:spPr>
          <a:xfrm>
            <a:off x="1126070" y="1424051"/>
            <a:ext cx="6338046" cy="461665"/>
          </a:xfrm>
          <a:prstGeom prst="rect">
            <a:avLst/>
          </a:prstGeom>
          <a:noFill/>
        </p:spPr>
        <p:txBody>
          <a:bodyPr wrap="square">
            <a:spAutoFit/>
          </a:bodyPr>
          <a:lstStyle/>
          <a:p>
            <a:r>
              <a:rPr lang="en-US" altLang="zh-CN" sz="2400" b="1" dirty="0">
                <a:solidFill>
                  <a:srgbClr val="FF0000"/>
                </a:solidFill>
                <a:latin typeface="+mn-ea"/>
                <a:cs typeface="Open Sans" panose="020B0606030504020204" pitchFamily="34" charset="0"/>
              </a:rPr>
              <a:t>What is Context Compression?</a:t>
            </a:r>
          </a:p>
        </p:txBody>
      </p:sp>
      <p:sp>
        <p:nvSpPr>
          <p:cNvPr id="20" name="文本框 19">
            <a:extLst>
              <a:ext uri="{FF2B5EF4-FFF2-40B4-BE49-F238E27FC236}">
                <a16:creationId xmlns:a16="http://schemas.microsoft.com/office/drawing/2014/main" id="{09E5A93D-875A-44F3-A6D9-100BC10D0A93}"/>
              </a:ext>
            </a:extLst>
          </p:cNvPr>
          <p:cNvSpPr txBox="1"/>
          <p:nvPr/>
        </p:nvSpPr>
        <p:spPr>
          <a:xfrm>
            <a:off x="6266564" y="3204843"/>
            <a:ext cx="5360894" cy="1892121"/>
          </a:xfrm>
          <a:prstGeom prst="rect">
            <a:avLst/>
          </a:prstGeom>
          <a:noFill/>
        </p:spPr>
        <p:txBody>
          <a:bodyPr wrap="square">
            <a:spAutoFit/>
          </a:bodyPr>
          <a:lstStyle/>
          <a:p>
            <a:pPr>
              <a:lnSpc>
                <a:spcPct val="150000"/>
              </a:lnSpc>
            </a:pPr>
            <a:r>
              <a:rPr lang="en-US" altLang="zh-CN" sz="2000" b="1" dirty="0"/>
              <a:t>Context compression seeks to reduce long context into a compact text embedding or token sequence for large language models (LLMs) without losing key information. </a:t>
            </a:r>
            <a:endParaRPr lang="zh-CN" altLang="en-US" sz="2000" b="1" dirty="0"/>
          </a:p>
        </p:txBody>
      </p:sp>
      <p:pic>
        <p:nvPicPr>
          <p:cNvPr id="21" name="图片 20">
            <a:extLst>
              <a:ext uri="{FF2B5EF4-FFF2-40B4-BE49-F238E27FC236}">
                <a16:creationId xmlns:a16="http://schemas.microsoft.com/office/drawing/2014/main" id="{42B5D699-500E-4BD9-B01B-5D5D64B8D50B}"/>
              </a:ext>
            </a:extLst>
          </p:cNvPr>
          <p:cNvPicPr>
            <a:picLocks noChangeAspect="1"/>
          </p:cNvPicPr>
          <p:nvPr/>
        </p:nvPicPr>
        <p:blipFill>
          <a:blip r:embed="rId4"/>
          <a:stretch>
            <a:fillRect/>
          </a:stretch>
        </p:blipFill>
        <p:spPr>
          <a:xfrm>
            <a:off x="1048744" y="1958794"/>
            <a:ext cx="5047256" cy="4765220"/>
          </a:xfrm>
          <a:prstGeom prst="rect">
            <a:avLst/>
          </a:prstGeom>
        </p:spPr>
      </p:pic>
    </p:spTree>
    <p:extLst>
      <p:ext uri="{BB962C8B-B14F-4D97-AF65-F5344CB8AC3E}">
        <p14:creationId xmlns:p14="http://schemas.microsoft.com/office/powerpoint/2010/main" val="17760615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a:extLst>
              <a:ext uri="{FF2B5EF4-FFF2-40B4-BE49-F238E27FC236}">
                <a16:creationId xmlns:a16="http://schemas.microsoft.com/office/drawing/2014/main" id="{7935E57E-1B55-4CDD-B8DD-CAADD45EE6F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3453" y="3245118"/>
            <a:ext cx="5707962" cy="3605435"/>
          </a:xfrm>
          <a:prstGeom prst="rect">
            <a:avLst/>
          </a:prstGeom>
        </p:spPr>
      </p:pic>
      <p:sp>
        <p:nvSpPr>
          <p:cNvPr id="11" name="椭圆 10">
            <a:extLst>
              <a:ext uri="{FF2B5EF4-FFF2-40B4-BE49-F238E27FC236}">
                <a16:creationId xmlns:a16="http://schemas.microsoft.com/office/drawing/2014/main" id="{8E289B97-3EA5-028E-444A-8EB3690D5F5D}"/>
              </a:ext>
            </a:extLst>
          </p:cNvPr>
          <p:cNvSpPr/>
          <p:nvPr/>
        </p:nvSpPr>
        <p:spPr>
          <a:xfrm>
            <a:off x="-217832" y="-426322"/>
            <a:ext cx="2344420" cy="2344420"/>
          </a:xfrm>
          <a:prstGeom prst="ellipse">
            <a:avLst/>
          </a:prstGeom>
          <a:solidFill>
            <a:srgbClr val="A6B1C6">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lt1"/>
              </a:solidFill>
              <a:cs typeface="思源黑体 CN Normal" panose="020B0400000000000000" charset="-122"/>
            </a:endParaRPr>
          </a:p>
        </p:txBody>
      </p:sp>
      <p:grpSp>
        <p:nvGrpSpPr>
          <p:cNvPr id="12" name="组合 11">
            <a:extLst>
              <a:ext uri="{FF2B5EF4-FFF2-40B4-BE49-F238E27FC236}">
                <a16:creationId xmlns:a16="http://schemas.microsoft.com/office/drawing/2014/main" id="{D7ACDA95-F13B-2F0F-BEC1-8641B80CDE83}"/>
              </a:ext>
            </a:extLst>
          </p:cNvPr>
          <p:cNvGrpSpPr/>
          <p:nvPr/>
        </p:nvGrpSpPr>
        <p:grpSpPr>
          <a:xfrm>
            <a:off x="-121136" y="7448"/>
            <a:ext cx="12313136" cy="1198477"/>
            <a:chOff x="6121" y="1678"/>
            <a:chExt cx="19370" cy="1470"/>
          </a:xfrm>
        </p:grpSpPr>
        <p:sp>
          <p:nvSpPr>
            <p:cNvPr id="15" name="平行四边形 14">
              <a:extLst>
                <a:ext uri="{FF2B5EF4-FFF2-40B4-BE49-F238E27FC236}">
                  <a16:creationId xmlns:a16="http://schemas.microsoft.com/office/drawing/2014/main" id="{53D7386B-8F06-7F51-62BF-1D778A964F11}"/>
                </a:ext>
              </a:extLst>
            </p:cNvPr>
            <p:cNvSpPr/>
            <p:nvPr/>
          </p:nvSpPr>
          <p:spPr>
            <a:xfrm rot="16200000">
              <a:off x="7584" y="2177"/>
              <a:ext cx="1470" cy="472"/>
            </a:xfrm>
            <a:prstGeom prst="parallelogram">
              <a:avLst>
                <a:gd name="adj" fmla="val 76588"/>
              </a:avLst>
            </a:prstGeom>
            <a:solidFill>
              <a:srgbClr val="515983"/>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6" name="平行四边形 15">
              <a:extLst>
                <a:ext uri="{FF2B5EF4-FFF2-40B4-BE49-F238E27FC236}">
                  <a16:creationId xmlns:a16="http://schemas.microsoft.com/office/drawing/2014/main" id="{CA87F104-0887-07B3-BE33-5B8FEA5FD472}"/>
                </a:ext>
              </a:extLst>
            </p:cNvPr>
            <p:cNvSpPr/>
            <p:nvPr/>
          </p:nvSpPr>
          <p:spPr>
            <a:xfrm rot="20760000">
              <a:off x="6121" y="1913"/>
              <a:ext cx="2130" cy="1064"/>
            </a:xfrm>
            <a:prstGeom prst="parallelogram">
              <a:avLst/>
            </a:prstGeom>
            <a:gradFill>
              <a:gsLst>
                <a:gs pos="100000">
                  <a:srgbClr val="515983"/>
                </a:gs>
                <a:gs pos="0">
                  <a:srgbClr val="515983">
                    <a:alpha val="51000"/>
                  </a:srgbClr>
                </a:gs>
              </a:gsLst>
              <a:lin ang="162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7" name="矩形 16">
              <a:extLst>
                <a:ext uri="{FF2B5EF4-FFF2-40B4-BE49-F238E27FC236}">
                  <a16:creationId xmlns:a16="http://schemas.microsoft.com/office/drawing/2014/main" id="{1279C17D-BC90-0BD1-5AB5-AFEEE2260364}"/>
                </a:ext>
              </a:extLst>
            </p:cNvPr>
            <p:cNvSpPr/>
            <p:nvPr/>
          </p:nvSpPr>
          <p:spPr>
            <a:xfrm>
              <a:off x="8540" y="2032"/>
              <a:ext cx="16951" cy="1106"/>
            </a:xfrm>
            <a:prstGeom prst="rect">
              <a:avLst/>
            </a:prstGeom>
            <a:gradFill>
              <a:gsLst>
                <a:gs pos="100000">
                  <a:srgbClr val="5F85C3"/>
                </a:gs>
                <a:gs pos="0">
                  <a:srgbClr val="515983"/>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sp>
        <p:nvSpPr>
          <p:cNvPr id="13" name="文本框 17">
            <a:extLst>
              <a:ext uri="{FF2B5EF4-FFF2-40B4-BE49-F238E27FC236}">
                <a16:creationId xmlns:a16="http://schemas.microsoft.com/office/drawing/2014/main" id="{831A12D7-C3D3-65E0-CE7C-E92B0A1D4F10}"/>
              </a:ext>
            </a:extLst>
          </p:cNvPr>
          <p:cNvSpPr txBox="1"/>
          <p:nvPr/>
        </p:nvSpPr>
        <p:spPr>
          <a:xfrm rot="20700000">
            <a:off x="123434" y="327464"/>
            <a:ext cx="1009650" cy="645160"/>
          </a:xfrm>
          <a:prstGeom prst="rect">
            <a:avLst/>
          </a:prstGeom>
          <a:noFill/>
          <a:ln w="9525">
            <a:noFill/>
          </a:ln>
        </p:spPr>
        <p:txBody>
          <a:bodyPr wrap="square" anchor="ctr" anchorCtr="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ctr"/>
            <a:r>
              <a:rPr lang="en-US" altLang="zh-CN" sz="3600" b="1" dirty="0">
                <a:solidFill>
                  <a:schemeClr val="bg1"/>
                </a:solidFill>
                <a:latin typeface="微软雅黑" panose="020B0503020204020204" charset="-122"/>
                <a:ea typeface="微软雅黑" panose="020B0503020204020204" charset="-122"/>
                <a:cs typeface="思源黑体 CN Normal" panose="020B0400000000000000" charset="-122"/>
              </a:rPr>
              <a:t>02</a:t>
            </a:r>
          </a:p>
        </p:txBody>
      </p:sp>
      <p:sp>
        <p:nvSpPr>
          <p:cNvPr id="14" name="文本框 3">
            <a:extLst>
              <a:ext uri="{FF2B5EF4-FFF2-40B4-BE49-F238E27FC236}">
                <a16:creationId xmlns:a16="http://schemas.microsoft.com/office/drawing/2014/main" id="{0E09A78A-3AA6-34D7-38D8-A21A06EA63F9}"/>
              </a:ext>
            </a:extLst>
          </p:cNvPr>
          <p:cNvSpPr txBox="1"/>
          <p:nvPr/>
        </p:nvSpPr>
        <p:spPr>
          <a:xfrm>
            <a:off x="1416576" y="453500"/>
            <a:ext cx="4191000" cy="58477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ctr"/>
            <a:r>
              <a:rPr lang="en-US" altLang="zh-CN" sz="3200" b="1" dirty="0">
                <a:solidFill>
                  <a:schemeClr val="bg1"/>
                </a:solidFill>
                <a:latin typeface="微软雅黑" panose="020B0503020204020204" charset="-122"/>
                <a:ea typeface="微软雅黑" panose="020B0503020204020204" charset="-122"/>
                <a:cs typeface="思源黑体 CN Normal" panose="020B0400000000000000" charset="-122"/>
                <a:sym typeface="+mn-ea"/>
              </a:rPr>
              <a:t>Motivation</a:t>
            </a:r>
            <a:endParaRPr lang="zh-CN" altLang="en-US" sz="3200" b="1" dirty="0">
              <a:solidFill>
                <a:schemeClr val="bg1"/>
              </a:solidFill>
              <a:latin typeface="微软雅黑" panose="020B0503020204020204" charset="-122"/>
              <a:ea typeface="微软雅黑" panose="020B0503020204020204" charset="-122"/>
              <a:cs typeface="思源黑体 CN Normal" panose="020B0400000000000000" charset="-122"/>
              <a:sym typeface="+mn-ea"/>
            </a:endParaRPr>
          </a:p>
        </p:txBody>
      </p:sp>
      <p:pic>
        <p:nvPicPr>
          <p:cNvPr id="2050" name="Picture 2">
            <a:extLst>
              <a:ext uri="{FF2B5EF4-FFF2-40B4-BE49-F238E27FC236}">
                <a16:creationId xmlns:a16="http://schemas.microsoft.com/office/drawing/2014/main" id="{2DA4C3AB-DFF7-49DA-91A2-6A2C4A2D9E9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72176" y="297592"/>
            <a:ext cx="1392495" cy="867988"/>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
        <p:nvSpPr>
          <p:cNvPr id="19" name="文本框 18">
            <a:extLst>
              <a:ext uri="{FF2B5EF4-FFF2-40B4-BE49-F238E27FC236}">
                <a16:creationId xmlns:a16="http://schemas.microsoft.com/office/drawing/2014/main" id="{0CFC8B9F-8853-407B-8204-576038000DC5}"/>
              </a:ext>
            </a:extLst>
          </p:cNvPr>
          <p:cNvSpPr txBox="1"/>
          <p:nvPr/>
        </p:nvSpPr>
        <p:spPr>
          <a:xfrm>
            <a:off x="643663" y="1392562"/>
            <a:ext cx="5980160" cy="3748142"/>
          </a:xfrm>
          <a:prstGeom prst="rect">
            <a:avLst/>
          </a:prstGeom>
          <a:noFill/>
        </p:spPr>
        <p:txBody>
          <a:bodyPr wrap="square">
            <a:spAutoFit/>
          </a:bodyPr>
          <a:lstStyle/>
          <a:p>
            <a:pPr marL="342900" indent="-342900">
              <a:lnSpc>
                <a:spcPct val="150000"/>
              </a:lnSpc>
              <a:buFont typeface="Arial" panose="020B0604020202020204" pitchFamily="34" charset="0"/>
              <a:buChar char="•"/>
            </a:pPr>
            <a:r>
              <a:rPr lang="en-US" altLang="zh-CN" sz="1600" b="1" dirty="0"/>
              <a:t>Most LLMs are inherently </a:t>
            </a:r>
            <a:r>
              <a:rPr lang="en-US" altLang="zh-CN" sz="1600" b="1" dirty="0">
                <a:solidFill>
                  <a:srgbClr val="FF0000"/>
                </a:solidFill>
              </a:rPr>
              <a:t>causal</a:t>
            </a:r>
            <a:r>
              <a:rPr lang="en-US" altLang="zh-CN" sz="1600" b="1" dirty="0"/>
              <a:t> and optimized for </a:t>
            </a:r>
            <a:r>
              <a:rPr lang="en-US" altLang="zh-CN" sz="1600" b="1" dirty="0">
                <a:solidFill>
                  <a:srgbClr val="FF0000"/>
                </a:solidFill>
              </a:rPr>
              <a:t>next-token prediction</a:t>
            </a:r>
            <a:r>
              <a:rPr lang="en-US" altLang="zh-CN" sz="1600" b="1" dirty="0"/>
              <a:t>, which makes them inherently </a:t>
            </a:r>
            <a:r>
              <a:rPr lang="en-US" altLang="zh-CN" sz="1600" b="1" dirty="0">
                <a:solidFill>
                  <a:srgbClr val="FF0000"/>
                </a:solidFill>
              </a:rPr>
              <a:t>suboptimal</a:t>
            </a:r>
            <a:r>
              <a:rPr lang="en-US" altLang="zh-CN" sz="1600" b="1" dirty="0"/>
              <a:t> for generating holistic, coherent representations of entire sequences.</a:t>
            </a:r>
          </a:p>
          <a:p>
            <a:pPr marL="342900" indent="-342900">
              <a:lnSpc>
                <a:spcPct val="150000"/>
              </a:lnSpc>
              <a:buFont typeface="Arial" panose="020B0604020202020204" pitchFamily="34" charset="0"/>
              <a:buChar char="•"/>
            </a:pPr>
            <a:endParaRPr lang="en-US" altLang="zh-CN" sz="1600" b="1" dirty="0"/>
          </a:p>
          <a:p>
            <a:pPr marL="342900" indent="-342900">
              <a:lnSpc>
                <a:spcPct val="150000"/>
              </a:lnSpc>
              <a:buFont typeface="Arial" panose="020B0604020202020204" pitchFamily="34" charset="0"/>
              <a:buChar char="•"/>
            </a:pPr>
            <a:endParaRPr lang="en-US" altLang="zh-CN" sz="1600" b="1" dirty="0"/>
          </a:p>
          <a:p>
            <a:pPr marL="342900" indent="-342900">
              <a:lnSpc>
                <a:spcPct val="150000"/>
              </a:lnSpc>
              <a:buFont typeface="Arial" panose="020B0604020202020204" pitchFamily="34" charset="0"/>
              <a:buChar char="•"/>
            </a:pPr>
            <a:endParaRPr lang="en-US" altLang="zh-CN" sz="1600" b="1" dirty="0"/>
          </a:p>
          <a:p>
            <a:pPr marL="342900" indent="-342900">
              <a:lnSpc>
                <a:spcPct val="150000"/>
              </a:lnSpc>
              <a:buFont typeface="Arial" panose="020B0604020202020204" pitchFamily="34" charset="0"/>
              <a:buChar char="•"/>
            </a:pPr>
            <a:endParaRPr lang="en-US" altLang="zh-CN" sz="1600" b="1" dirty="0"/>
          </a:p>
          <a:p>
            <a:pPr marL="342900" indent="-342900">
              <a:lnSpc>
                <a:spcPct val="150000"/>
              </a:lnSpc>
              <a:buFont typeface="Arial" panose="020B0604020202020204" pitchFamily="34" charset="0"/>
              <a:buChar char="•"/>
            </a:pPr>
            <a:endParaRPr lang="en-US" altLang="zh-CN" sz="1600" b="1" dirty="0"/>
          </a:p>
          <a:p>
            <a:pPr marL="342900" indent="-342900">
              <a:lnSpc>
                <a:spcPct val="150000"/>
              </a:lnSpc>
              <a:buFont typeface="Arial" panose="020B0604020202020204" pitchFamily="34" charset="0"/>
              <a:buChar char="•"/>
            </a:pPr>
            <a:endParaRPr lang="en-US" altLang="zh-CN" sz="1600" b="1" dirty="0"/>
          </a:p>
        </p:txBody>
      </p:sp>
      <p:sp>
        <p:nvSpPr>
          <p:cNvPr id="20" name="文本框 19">
            <a:extLst>
              <a:ext uri="{FF2B5EF4-FFF2-40B4-BE49-F238E27FC236}">
                <a16:creationId xmlns:a16="http://schemas.microsoft.com/office/drawing/2014/main" id="{67DC771E-A87D-4234-91C4-CC3529851A58}"/>
              </a:ext>
            </a:extLst>
          </p:cNvPr>
          <p:cNvSpPr txBox="1"/>
          <p:nvPr/>
        </p:nvSpPr>
        <p:spPr>
          <a:xfrm>
            <a:off x="6804287" y="1492319"/>
            <a:ext cx="5260383" cy="793487"/>
          </a:xfrm>
          <a:prstGeom prst="rect">
            <a:avLst/>
          </a:prstGeom>
          <a:noFill/>
        </p:spPr>
        <p:txBody>
          <a:bodyPr wrap="square">
            <a:spAutoFit/>
          </a:bodyPr>
          <a:lstStyle/>
          <a:p>
            <a:pPr marL="342900" indent="-342900">
              <a:lnSpc>
                <a:spcPct val="150000"/>
              </a:lnSpc>
              <a:buFont typeface="Arial" panose="020B0604020202020204" pitchFamily="34" charset="0"/>
              <a:buChar char="•"/>
            </a:pPr>
            <a:r>
              <a:rPr lang="en-US" altLang="zh-CN" sz="1600" b="1" dirty="0"/>
              <a:t>Other pretext tasks remain fundamentally </a:t>
            </a:r>
            <a:r>
              <a:rPr lang="en-US" altLang="zh-CN" sz="1600" b="1" dirty="0">
                <a:solidFill>
                  <a:srgbClr val="FF0000"/>
                </a:solidFill>
              </a:rPr>
              <a:t>token-level</a:t>
            </a:r>
            <a:r>
              <a:rPr lang="en-US" altLang="zh-CN" sz="1600" b="1" dirty="0"/>
              <a:t> rather than </a:t>
            </a:r>
            <a:r>
              <a:rPr lang="en-US" altLang="zh-CN" sz="1600" b="1" dirty="0">
                <a:solidFill>
                  <a:srgbClr val="FF0000"/>
                </a:solidFill>
              </a:rPr>
              <a:t>sequence-level</a:t>
            </a:r>
            <a:r>
              <a:rPr lang="en-US" altLang="zh-CN" sz="1600" b="1" dirty="0"/>
              <a:t> prediction.</a:t>
            </a:r>
            <a:endParaRPr lang="zh-CN" altLang="en-US" sz="1600" b="1" dirty="0"/>
          </a:p>
        </p:txBody>
      </p:sp>
      <p:cxnSp>
        <p:nvCxnSpPr>
          <p:cNvPr id="8" name="直接连接符 7">
            <a:extLst>
              <a:ext uri="{FF2B5EF4-FFF2-40B4-BE49-F238E27FC236}">
                <a16:creationId xmlns:a16="http://schemas.microsoft.com/office/drawing/2014/main" id="{81A509A9-0FA1-408F-9EC9-A6A85E14BA0E}"/>
              </a:ext>
            </a:extLst>
          </p:cNvPr>
          <p:cNvCxnSpPr>
            <a:cxnSpLocks/>
          </p:cNvCxnSpPr>
          <p:nvPr/>
        </p:nvCxnSpPr>
        <p:spPr>
          <a:xfrm>
            <a:off x="6789102" y="1206563"/>
            <a:ext cx="0" cy="5651437"/>
          </a:xfrm>
          <a:prstGeom prst="line">
            <a:avLst/>
          </a:prstGeom>
          <a:ln w="19050">
            <a:solidFill>
              <a:schemeClr val="bg1">
                <a:lumMod val="65000"/>
              </a:schemeClr>
            </a:solidFill>
            <a:prstDash val="dashDot"/>
          </a:ln>
        </p:spPr>
        <p:style>
          <a:lnRef idx="1">
            <a:schemeClr val="dk1"/>
          </a:lnRef>
          <a:fillRef idx="0">
            <a:schemeClr val="dk1"/>
          </a:fillRef>
          <a:effectRef idx="0">
            <a:schemeClr val="dk1"/>
          </a:effectRef>
          <a:fontRef idx="minor">
            <a:schemeClr val="tx1"/>
          </a:fontRef>
        </p:style>
      </p:cxnSp>
      <p:pic>
        <p:nvPicPr>
          <p:cNvPr id="10" name="图片 9">
            <a:extLst>
              <a:ext uri="{FF2B5EF4-FFF2-40B4-BE49-F238E27FC236}">
                <a16:creationId xmlns:a16="http://schemas.microsoft.com/office/drawing/2014/main" id="{C8115FB9-DD5D-4F95-894B-E92F4D2F818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577024" y="3039033"/>
            <a:ext cx="2561186" cy="2245963"/>
          </a:xfrm>
          <a:prstGeom prst="rect">
            <a:avLst/>
          </a:prstGeom>
        </p:spPr>
      </p:pic>
      <p:pic>
        <p:nvPicPr>
          <p:cNvPr id="23" name="图片 22">
            <a:extLst>
              <a:ext uri="{FF2B5EF4-FFF2-40B4-BE49-F238E27FC236}">
                <a16:creationId xmlns:a16="http://schemas.microsoft.com/office/drawing/2014/main" id="{67C23F59-2932-46E3-B731-A8132F023F8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900592" y="3388654"/>
            <a:ext cx="2635259" cy="1941164"/>
          </a:xfrm>
          <a:prstGeom prst="rect">
            <a:avLst/>
          </a:prstGeom>
        </p:spPr>
      </p:pic>
      <p:sp>
        <p:nvSpPr>
          <p:cNvPr id="28" name="文本框 27">
            <a:extLst>
              <a:ext uri="{FF2B5EF4-FFF2-40B4-BE49-F238E27FC236}">
                <a16:creationId xmlns:a16="http://schemas.microsoft.com/office/drawing/2014/main" id="{07E38769-CBF7-4DD8-B1F7-088228001B97}"/>
              </a:ext>
            </a:extLst>
          </p:cNvPr>
          <p:cNvSpPr txBox="1"/>
          <p:nvPr/>
        </p:nvSpPr>
        <p:spPr>
          <a:xfrm>
            <a:off x="7579486" y="5503437"/>
            <a:ext cx="1277470" cy="276999"/>
          </a:xfrm>
          <a:prstGeom prst="rect">
            <a:avLst/>
          </a:prstGeom>
          <a:noFill/>
        </p:spPr>
        <p:txBody>
          <a:bodyPr wrap="square">
            <a:spAutoFit/>
          </a:bodyPr>
          <a:lstStyle/>
          <a:p>
            <a:pPr algn="ctr"/>
            <a:r>
              <a:rPr lang="en-US" altLang="zh-CN" sz="1200" b="1" dirty="0"/>
              <a:t>LLM2Vec</a:t>
            </a:r>
            <a:endParaRPr lang="zh-CN" altLang="en-US" sz="1200" dirty="0"/>
          </a:p>
        </p:txBody>
      </p:sp>
      <p:sp>
        <p:nvSpPr>
          <p:cNvPr id="29" name="文本框 28">
            <a:extLst>
              <a:ext uri="{FF2B5EF4-FFF2-40B4-BE49-F238E27FC236}">
                <a16:creationId xmlns:a16="http://schemas.microsoft.com/office/drawing/2014/main" id="{08A6571C-1510-4E0F-B52E-F17EA0667A41}"/>
              </a:ext>
            </a:extLst>
          </p:cNvPr>
          <p:cNvSpPr txBox="1"/>
          <p:nvPr/>
        </p:nvSpPr>
        <p:spPr>
          <a:xfrm>
            <a:off x="10218882" y="5503436"/>
            <a:ext cx="1277470" cy="276999"/>
          </a:xfrm>
          <a:prstGeom prst="rect">
            <a:avLst/>
          </a:prstGeom>
          <a:noFill/>
        </p:spPr>
        <p:txBody>
          <a:bodyPr wrap="square">
            <a:spAutoFit/>
          </a:bodyPr>
          <a:lstStyle/>
          <a:p>
            <a:pPr algn="ctr"/>
            <a:r>
              <a:rPr lang="en-US" altLang="zh-CN" sz="1200" b="1" dirty="0"/>
              <a:t>LLama2Vec</a:t>
            </a:r>
            <a:endParaRPr lang="zh-CN" altLang="en-US" sz="1200" dirty="0"/>
          </a:p>
        </p:txBody>
      </p:sp>
    </p:spTree>
    <p:extLst>
      <p:ext uri="{BB962C8B-B14F-4D97-AF65-F5344CB8AC3E}">
        <p14:creationId xmlns:p14="http://schemas.microsoft.com/office/powerpoint/2010/main" val="31323077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椭圆 10">
            <a:extLst>
              <a:ext uri="{FF2B5EF4-FFF2-40B4-BE49-F238E27FC236}">
                <a16:creationId xmlns:a16="http://schemas.microsoft.com/office/drawing/2014/main" id="{8E289B97-3EA5-028E-444A-8EB3690D5F5D}"/>
              </a:ext>
            </a:extLst>
          </p:cNvPr>
          <p:cNvSpPr/>
          <p:nvPr/>
        </p:nvSpPr>
        <p:spPr>
          <a:xfrm>
            <a:off x="-217832" y="-426322"/>
            <a:ext cx="2344420" cy="2344420"/>
          </a:xfrm>
          <a:prstGeom prst="ellipse">
            <a:avLst/>
          </a:prstGeom>
          <a:solidFill>
            <a:srgbClr val="A6B1C6">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lt1"/>
              </a:solidFill>
              <a:cs typeface="思源黑体 CN Normal" panose="020B0400000000000000" charset="-122"/>
            </a:endParaRPr>
          </a:p>
        </p:txBody>
      </p:sp>
      <p:grpSp>
        <p:nvGrpSpPr>
          <p:cNvPr id="12" name="组合 11">
            <a:extLst>
              <a:ext uri="{FF2B5EF4-FFF2-40B4-BE49-F238E27FC236}">
                <a16:creationId xmlns:a16="http://schemas.microsoft.com/office/drawing/2014/main" id="{D7ACDA95-F13B-2F0F-BEC1-8641B80CDE83}"/>
              </a:ext>
            </a:extLst>
          </p:cNvPr>
          <p:cNvGrpSpPr/>
          <p:nvPr/>
        </p:nvGrpSpPr>
        <p:grpSpPr>
          <a:xfrm>
            <a:off x="-121136" y="7448"/>
            <a:ext cx="12313136" cy="1198477"/>
            <a:chOff x="6121" y="1678"/>
            <a:chExt cx="19370" cy="1470"/>
          </a:xfrm>
        </p:grpSpPr>
        <p:sp>
          <p:nvSpPr>
            <p:cNvPr id="15" name="平行四边形 14">
              <a:extLst>
                <a:ext uri="{FF2B5EF4-FFF2-40B4-BE49-F238E27FC236}">
                  <a16:creationId xmlns:a16="http://schemas.microsoft.com/office/drawing/2014/main" id="{53D7386B-8F06-7F51-62BF-1D778A964F11}"/>
                </a:ext>
              </a:extLst>
            </p:cNvPr>
            <p:cNvSpPr/>
            <p:nvPr/>
          </p:nvSpPr>
          <p:spPr>
            <a:xfrm rot="16200000">
              <a:off x="7584" y="2177"/>
              <a:ext cx="1470" cy="472"/>
            </a:xfrm>
            <a:prstGeom prst="parallelogram">
              <a:avLst>
                <a:gd name="adj" fmla="val 76588"/>
              </a:avLst>
            </a:prstGeom>
            <a:solidFill>
              <a:srgbClr val="515983"/>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6" name="平行四边形 15">
              <a:extLst>
                <a:ext uri="{FF2B5EF4-FFF2-40B4-BE49-F238E27FC236}">
                  <a16:creationId xmlns:a16="http://schemas.microsoft.com/office/drawing/2014/main" id="{CA87F104-0887-07B3-BE33-5B8FEA5FD472}"/>
                </a:ext>
              </a:extLst>
            </p:cNvPr>
            <p:cNvSpPr/>
            <p:nvPr/>
          </p:nvSpPr>
          <p:spPr>
            <a:xfrm rot="20760000">
              <a:off x="6121" y="1913"/>
              <a:ext cx="2130" cy="1064"/>
            </a:xfrm>
            <a:prstGeom prst="parallelogram">
              <a:avLst/>
            </a:prstGeom>
            <a:gradFill>
              <a:gsLst>
                <a:gs pos="100000">
                  <a:srgbClr val="515983"/>
                </a:gs>
                <a:gs pos="0">
                  <a:srgbClr val="515983">
                    <a:alpha val="51000"/>
                  </a:srgbClr>
                </a:gs>
              </a:gsLst>
              <a:lin ang="162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7" name="矩形 16">
              <a:extLst>
                <a:ext uri="{FF2B5EF4-FFF2-40B4-BE49-F238E27FC236}">
                  <a16:creationId xmlns:a16="http://schemas.microsoft.com/office/drawing/2014/main" id="{1279C17D-BC90-0BD1-5AB5-AFEEE2260364}"/>
                </a:ext>
              </a:extLst>
            </p:cNvPr>
            <p:cNvSpPr/>
            <p:nvPr/>
          </p:nvSpPr>
          <p:spPr>
            <a:xfrm>
              <a:off x="8540" y="2032"/>
              <a:ext cx="16951" cy="1106"/>
            </a:xfrm>
            <a:prstGeom prst="rect">
              <a:avLst/>
            </a:prstGeom>
            <a:gradFill>
              <a:gsLst>
                <a:gs pos="100000">
                  <a:srgbClr val="5F85C3"/>
                </a:gs>
                <a:gs pos="0">
                  <a:srgbClr val="515983"/>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sp>
        <p:nvSpPr>
          <p:cNvPr id="13" name="文本框 17">
            <a:extLst>
              <a:ext uri="{FF2B5EF4-FFF2-40B4-BE49-F238E27FC236}">
                <a16:creationId xmlns:a16="http://schemas.microsoft.com/office/drawing/2014/main" id="{831A12D7-C3D3-65E0-CE7C-E92B0A1D4F10}"/>
              </a:ext>
            </a:extLst>
          </p:cNvPr>
          <p:cNvSpPr txBox="1"/>
          <p:nvPr/>
        </p:nvSpPr>
        <p:spPr>
          <a:xfrm rot="20700000">
            <a:off x="123434" y="327464"/>
            <a:ext cx="1009650" cy="645160"/>
          </a:xfrm>
          <a:prstGeom prst="rect">
            <a:avLst/>
          </a:prstGeom>
          <a:noFill/>
          <a:ln w="9525">
            <a:noFill/>
          </a:ln>
        </p:spPr>
        <p:txBody>
          <a:bodyPr wrap="square" anchor="ctr" anchorCtr="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ctr"/>
            <a:r>
              <a:rPr lang="en-US" altLang="zh-CN" sz="3600" b="1" dirty="0">
                <a:solidFill>
                  <a:schemeClr val="bg1"/>
                </a:solidFill>
                <a:latin typeface="微软雅黑" panose="020B0503020204020204" charset="-122"/>
                <a:ea typeface="微软雅黑" panose="020B0503020204020204" charset="-122"/>
                <a:cs typeface="思源黑体 CN Normal" panose="020B0400000000000000" charset="-122"/>
              </a:rPr>
              <a:t>03</a:t>
            </a:r>
          </a:p>
        </p:txBody>
      </p:sp>
      <p:sp>
        <p:nvSpPr>
          <p:cNvPr id="14" name="文本框 3">
            <a:extLst>
              <a:ext uri="{FF2B5EF4-FFF2-40B4-BE49-F238E27FC236}">
                <a16:creationId xmlns:a16="http://schemas.microsoft.com/office/drawing/2014/main" id="{0E09A78A-3AA6-34D7-38D8-A21A06EA63F9}"/>
              </a:ext>
            </a:extLst>
          </p:cNvPr>
          <p:cNvSpPr txBox="1"/>
          <p:nvPr/>
        </p:nvSpPr>
        <p:spPr>
          <a:xfrm>
            <a:off x="1416576" y="453500"/>
            <a:ext cx="4191000" cy="58477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ctr"/>
            <a:r>
              <a:rPr lang="en-US" altLang="zh-CN" sz="3200" b="1" dirty="0">
                <a:solidFill>
                  <a:schemeClr val="bg1"/>
                </a:solidFill>
                <a:latin typeface="微软雅黑" panose="020B0503020204020204" charset="-122"/>
                <a:ea typeface="微软雅黑" panose="020B0503020204020204" charset="-122"/>
                <a:cs typeface="思源黑体 CN Normal" panose="020B0400000000000000" charset="-122"/>
                <a:sym typeface="+mn-ea"/>
              </a:rPr>
              <a:t>Contributions</a:t>
            </a:r>
            <a:endParaRPr lang="zh-CN" altLang="en-US" sz="3200" b="1" dirty="0">
              <a:solidFill>
                <a:schemeClr val="bg1"/>
              </a:solidFill>
              <a:latin typeface="微软雅黑" panose="020B0503020204020204" charset="-122"/>
              <a:ea typeface="微软雅黑" panose="020B0503020204020204" charset="-122"/>
              <a:cs typeface="思源黑体 CN Normal" panose="020B0400000000000000" charset="-122"/>
              <a:sym typeface="+mn-ea"/>
            </a:endParaRPr>
          </a:p>
        </p:txBody>
      </p:sp>
      <p:pic>
        <p:nvPicPr>
          <p:cNvPr id="2050" name="Picture 2">
            <a:extLst>
              <a:ext uri="{FF2B5EF4-FFF2-40B4-BE49-F238E27FC236}">
                <a16:creationId xmlns:a16="http://schemas.microsoft.com/office/drawing/2014/main" id="{2DA4C3AB-DFF7-49DA-91A2-6A2C4A2D9E9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72176" y="297592"/>
            <a:ext cx="1392495" cy="867988"/>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
        <p:nvSpPr>
          <p:cNvPr id="24" name="文本框 23">
            <a:extLst>
              <a:ext uri="{FF2B5EF4-FFF2-40B4-BE49-F238E27FC236}">
                <a16:creationId xmlns:a16="http://schemas.microsoft.com/office/drawing/2014/main" id="{FD0906C0-B3F2-47CE-A08B-AB83385A13EB}"/>
              </a:ext>
            </a:extLst>
          </p:cNvPr>
          <p:cNvSpPr txBox="1"/>
          <p:nvPr/>
        </p:nvSpPr>
        <p:spPr>
          <a:xfrm>
            <a:off x="895572" y="1814674"/>
            <a:ext cx="10400855" cy="4205126"/>
          </a:xfrm>
          <a:prstGeom prst="rect">
            <a:avLst/>
          </a:prstGeom>
          <a:noFill/>
        </p:spPr>
        <p:txBody>
          <a:bodyPr wrap="square">
            <a:spAutoFit/>
          </a:bodyPr>
          <a:lstStyle/>
          <a:p>
            <a:pPr marL="342900" indent="-342900">
              <a:lnSpc>
                <a:spcPct val="150000"/>
              </a:lnSpc>
              <a:buFont typeface="Arial" panose="020B0604020202020204" pitchFamily="34" charset="0"/>
              <a:buChar char="•"/>
            </a:pPr>
            <a:r>
              <a:rPr lang="en-US" altLang="zh-CN" b="1" dirty="0"/>
              <a:t>We explore the potential of compression pretraining for adapting LLMs to text representation tasks. Our empirical analysis highlights key factors for success, such as </a:t>
            </a:r>
            <a:r>
              <a:rPr lang="en-US" altLang="zh-CN" b="1" dirty="0">
                <a:solidFill>
                  <a:srgbClr val="FF0000"/>
                </a:solidFill>
              </a:rPr>
              <a:t>the optimal training objective (CTKD)</a:t>
            </a:r>
            <a:r>
              <a:rPr lang="en-US" altLang="zh-CN" b="1" dirty="0"/>
              <a:t> and </a:t>
            </a:r>
            <a:r>
              <a:rPr lang="en-US" altLang="zh-CN" b="1" dirty="0">
                <a:solidFill>
                  <a:srgbClr val="FF0000"/>
                </a:solidFill>
              </a:rPr>
              <a:t>the ideal number of memory tokens</a:t>
            </a:r>
            <a:r>
              <a:rPr lang="en-US" altLang="zh-CN" b="1" dirty="0"/>
              <a:t>.</a:t>
            </a:r>
          </a:p>
          <a:p>
            <a:pPr marL="342900" indent="-342900">
              <a:lnSpc>
                <a:spcPct val="150000"/>
              </a:lnSpc>
              <a:buFont typeface="Arial" panose="020B0604020202020204" pitchFamily="34" charset="0"/>
              <a:buChar char="•"/>
            </a:pPr>
            <a:endParaRPr lang="en-US" altLang="zh-CN" b="1" dirty="0"/>
          </a:p>
          <a:p>
            <a:pPr marL="342900" indent="-342900">
              <a:lnSpc>
                <a:spcPct val="150000"/>
              </a:lnSpc>
              <a:buFont typeface="Arial" panose="020B0604020202020204" pitchFamily="34" charset="0"/>
              <a:buChar char="•"/>
            </a:pPr>
            <a:r>
              <a:rPr lang="en-US" altLang="zh-CN" b="1" dirty="0"/>
              <a:t>We show that CTKD outperforms other compression objectives by </a:t>
            </a:r>
            <a:r>
              <a:rPr lang="en-US" altLang="zh-CN" b="1" dirty="0">
                <a:solidFill>
                  <a:srgbClr val="FF0000"/>
                </a:solidFill>
              </a:rPr>
              <a:t>mitigating dimensional collapse</a:t>
            </a:r>
            <a:r>
              <a:rPr lang="en-US" altLang="zh-CN" b="1" dirty="0"/>
              <a:t>, making it more effective for downstream tasks. Additionally, we demonstrate that contrastive learning further </a:t>
            </a:r>
            <a:r>
              <a:rPr lang="en-US" altLang="zh-CN" b="1" dirty="0">
                <a:solidFill>
                  <a:srgbClr val="FF0000"/>
                </a:solidFill>
              </a:rPr>
              <a:t>alleviates dimensional collapse</a:t>
            </a:r>
            <a:r>
              <a:rPr lang="en-US" altLang="zh-CN" b="1" dirty="0"/>
              <a:t>.</a:t>
            </a:r>
          </a:p>
          <a:p>
            <a:pPr marL="342900" indent="-342900">
              <a:lnSpc>
                <a:spcPct val="150000"/>
              </a:lnSpc>
              <a:buFont typeface="Arial" panose="020B0604020202020204" pitchFamily="34" charset="0"/>
              <a:buChar char="•"/>
            </a:pPr>
            <a:endParaRPr lang="en-US" altLang="zh-CN" b="1" dirty="0"/>
          </a:p>
          <a:p>
            <a:pPr marL="342900" indent="-342900">
              <a:lnSpc>
                <a:spcPct val="150000"/>
              </a:lnSpc>
              <a:buFont typeface="Arial" panose="020B0604020202020204" pitchFamily="34" charset="0"/>
              <a:buChar char="•"/>
            </a:pPr>
            <a:r>
              <a:rPr lang="en-US" altLang="zh-CN" b="1" dirty="0"/>
              <a:t>The CTKD task lays a strong foundation for text representation, enabling our model to </a:t>
            </a:r>
            <a:r>
              <a:rPr lang="en-US" altLang="zh-CN" b="1" dirty="0">
                <a:solidFill>
                  <a:srgbClr val="FF0000"/>
                </a:solidFill>
              </a:rPr>
              <a:t>outperform</a:t>
            </a:r>
            <a:r>
              <a:rPr lang="en-US" altLang="zh-CN" b="1" dirty="0"/>
              <a:t> models like LLM2Vec and Llama2Vec with less training data.</a:t>
            </a:r>
          </a:p>
        </p:txBody>
      </p:sp>
    </p:spTree>
    <p:extLst>
      <p:ext uri="{BB962C8B-B14F-4D97-AF65-F5344CB8AC3E}">
        <p14:creationId xmlns:p14="http://schemas.microsoft.com/office/powerpoint/2010/main" val="14670741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86092A7A-AC60-4B39-82AE-8CEB8E93F3C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54378" y="1958794"/>
            <a:ext cx="4481506" cy="4038280"/>
          </a:xfrm>
          <a:prstGeom prst="rect">
            <a:avLst/>
          </a:prstGeom>
        </p:spPr>
      </p:pic>
      <p:sp>
        <p:nvSpPr>
          <p:cNvPr id="11" name="椭圆 10">
            <a:extLst>
              <a:ext uri="{FF2B5EF4-FFF2-40B4-BE49-F238E27FC236}">
                <a16:creationId xmlns:a16="http://schemas.microsoft.com/office/drawing/2014/main" id="{8E289B97-3EA5-028E-444A-8EB3690D5F5D}"/>
              </a:ext>
            </a:extLst>
          </p:cNvPr>
          <p:cNvSpPr/>
          <p:nvPr/>
        </p:nvSpPr>
        <p:spPr>
          <a:xfrm>
            <a:off x="-217832" y="-426322"/>
            <a:ext cx="2344420" cy="2344420"/>
          </a:xfrm>
          <a:prstGeom prst="ellipse">
            <a:avLst/>
          </a:prstGeom>
          <a:solidFill>
            <a:srgbClr val="A6B1C6">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lt1"/>
              </a:solidFill>
              <a:cs typeface="思源黑体 CN Normal" panose="020B0400000000000000" charset="-122"/>
            </a:endParaRPr>
          </a:p>
        </p:txBody>
      </p:sp>
      <p:grpSp>
        <p:nvGrpSpPr>
          <p:cNvPr id="12" name="组合 11">
            <a:extLst>
              <a:ext uri="{FF2B5EF4-FFF2-40B4-BE49-F238E27FC236}">
                <a16:creationId xmlns:a16="http://schemas.microsoft.com/office/drawing/2014/main" id="{D7ACDA95-F13B-2F0F-BEC1-8641B80CDE83}"/>
              </a:ext>
            </a:extLst>
          </p:cNvPr>
          <p:cNvGrpSpPr/>
          <p:nvPr/>
        </p:nvGrpSpPr>
        <p:grpSpPr>
          <a:xfrm>
            <a:off x="-121136" y="7448"/>
            <a:ext cx="12313136" cy="1198477"/>
            <a:chOff x="6121" y="1678"/>
            <a:chExt cx="19370" cy="1470"/>
          </a:xfrm>
        </p:grpSpPr>
        <p:sp>
          <p:nvSpPr>
            <p:cNvPr id="15" name="平行四边形 14">
              <a:extLst>
                <a:ext uri="{FF2B5EF4-FFF2-40B4-BE49-F238E27FC236}">
                  <a16:creationId xmlns:a16="http://schemas.microsoft.com/office/drawing/2014/main" id="{53D7386B-8F06-7F51-62BF-1D778A964F11}"/>
                </a:ext>
              </a:extLst>
            </p:cNvPr>
            <p:cNvSpPr/>
            <p:nvPr/>
          </p:nvSpPr>
          <p:spPr>
            <a:xfrm rot="16200000">
              <a:off x="7584" y="2177"/>
              <a:ext cx="1470" cy="472"/>
            </a:xfrm>
            <a:prstGeom prst="parallelogram">
              <a:avLst>
                <a:gd name="adj" fmla="val 76588"/>
              </a:avLst>
            </a:prstGeom>
            <a:solidFill>
              <a:srgbClr val="515983"/>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6" name="平行四边形 15">
              <a:extLst>
                <a:ext uri="{FF2B5EF4-FFF2-40B4-BE49-F238E27FC236}">
                  <a16:creationId xmlns:a16="http://schemas.microsoft.com/office/drawing/2014/main" id="{CA87F104-0887-07B3-BE33-5B8FEA5FD472}"/>
                </a:ext>
              </a:extLst>
            </p:cNvPr>
            <p:cNvSpPr/>
            <p:nvPr/>
          </p:nvSpPr>
          <p:spPr>
            <a:xfrm rot="20760000">
              <a:off x="6121" y="1913"/>
              <a:ext cx="2130" cy="1064"/>
            </a:xfrm>
            <a:prstGeom prst="parallelogram">
              <a:avLst/>
            </a:prstGeom>
            <a:gradFill>
              <a:gsLst>
                <a:gs pos="100000">
                  <a:srgbClr val="515983"/>
                </a:gs>
                <a:gs pos="0">
                  <a:srgbClr val="515983">
                    <a:alpha val="51000"/>
                  </a:srgbClr>
                </a:gs>
              </a:gsLst>
              <a:lin ang="162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7" name="矩形 16">
              <a:extLst>
                <a:ext uri="{FF2B5EF4-FFF2-40B4-BE49-F238E27FC236}">
                  <a16:creationId xmlns:a16="http://schemas.microsoft.com/office/drawing/2014/main" id="{1279C17D-BC90-0BD1-5AB5-AFEEE2260364}"/>
                </a:ext>
              </a:extLst>
            </p:cNvPr>
            <p:cNvSpPr/>
            <p:nvPr/>
          </p:nvSpPr>
          <p:spPr>
            <a:xfrm>
              <a:off x="8540" y="2032"/>
              <a:ext cx="16951" cy="1106"/>
            </a:xfrm>
            <a:prstGeom prst="rect">
              <a:avLst/>
            </a:prstGeom>
            <a:gradFill>
              <a:gsLst>
                <a:gs pos="100000">
                  <a:srgbClr val="5F85C3"/>
                </a:gs>
                <a:gs pos="0">
                  <a:srgbClr val="515983"/>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sp>
        <p:nvSpPr>
          <p:cNvPr id="13" name="文本框 17">
            <a:extLst>
              <a:ext uri="{FF2B5EF4-FFF2-40B4-BE49-F238E27FC236}">
                <a16:creationId xmlns:a16="http://schemas.microsoft.com/office/drawing/2014/main" id="{831A12D7-C3D3-65E0-CE7C-E92B0A1D4F10}"/>
              </a:ext>
            </a:extLst>
          </p:cNvPr>
          <p:cNvSpPr txBox="1"/>
          <p:nvPr/>
        </p:nvSpPr>
        <p:spPr>
          <a:xfrm rot="20700000">
            <a:off x="123434" y="327464"/>
            <a:ext cx="1009650" cy="645160"/>
          </a:xfrm>
          <a:prstGeom prst="rect">
            <a:avLst/>
          </a:prstGeom>
          <a:noFill/>
          <a:ln w="9525">
            <a:noFill/>
          </a:ln>
        </p:spPr>
        <p:txBody>
          <a:bodyPr wrap="square" anchor="ctr" anchorCtr="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ctr"/>
            <a:r>
              <a:rPr lang="en-US" altLang="zh-CN" sz="3600" b="1" dirty="0">
                <a:solidFill>
                  <a:schemeClr val="bg1"/>
                </a:solidFill>
                <a:latin typeface="微软雅黑" panose="020B0503020204020204" charset="-122"/>
                <a:ea typeface="微软雅黑" panose="020B0503020204020204" charset="-122"/>
                <a:cs typeface="思源黑体 CN Normal" panose="020B0400000000000000" charset="-122"/>
              </a:rPr>
              <a:t>03</a:t>
            </a:r>
          </a:p>
        </p:txBody>
      </p:sp>
      <p:sp>
        <p:nvSpPr>
          <p:cNvPr id="14" name="文本框 3">
            <a:extLst>
              <a:ext uri="{FF2B5EF4-FFF2-40B4-BE49-F238E27FC236}">
                <a16:creationId xmlns:a16="http://schemas.microsoft.com/office/drawing/2014/main" id="{0E09A78A-3AA6-34D7-38D8-A21A06EA63F9}"/>
              </a:ext>
            </a:extLst>
          </p:cNvPr>
          <p:cNvSpPr txBox="1"/>
          <p:nvPr/>
        </p:nvSpPr>
        <p:spPr>
          <a:xfrm>
            <a:off x="1416576" y="453500"/>
            <a:ext cx="4191000" cy="58477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ctr"/>
            <a:r>
              <a:rPr lang="en-US" altLang="zh-CN" sz="3200" b="1" dirty="0">
                <a:solidFill>
                  <a:schemeClr val="bg1"/>
                </a:solidFill>
                <a:latin typeface="微软雅黑" panose="020B0503020204020204" charset="-122"/>
                <a:ea typeface="微软雅黑" panose="020B0503020204020204" charset="-122"/>
                <a:cs typeface="思源黑体 CN Normal" panose="020B0400000000000000" charset="-122"/>
                <a:sym typeface="+mn-ea"/>
              </a:rPr>
              <a:t>Method</a:t>
            </a:r>
            <a:endParaRPr lang="zh-CN" altLang="en-US" sz="3200" b="1" dirty="0">
              <a:solidFill>
                <a:schemeClr val="bg1"/>
              </a:solidFill>
              <a:latin typeface="微软雅黑" panose="020B0503020204020204" charset="-122"/>
              <a:ea typeface="微软雅黑" panose="020B0503020204020204" charset="-122"/>
              <a:cs typeface="思源黑体 CN Normal" panose="020B0400000000000000" charset="-122"/>
              <a:sym typeface="+mn-ea"/>
            </a:endParaRPr>
          </a:p>
        </p:txBody>
      </p:sp>
      <p:pic>
        <p:nvPicPr>
          <p:cNvPr id="2050" name="Picture 2">
            <a:extLst>
              <a:ext uri="{FF2B5EF4-FFF2-40B4-BE49-F238E27FC236}">
                <a16:creationId xmlns:a16="http://schemas.microsoft.com/office/drawing/2014/main" id="{2DA4C3AB-DFF7-49DA-91A2-6A2C4A2D9E9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72176" y="297592"/>
            <a:ext cx="1392495" cy="867988"/>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
        <p:nvSpPr>
          <p:cNvPr id="19" name="文本框 18">
            <a:extLst>
              <a:ext uri="{FF2B5EF4-FFF2-40B4-BE49-F238E27FC236}">
                <a16:creationId xmlns:a16="http://schemas.microsoft.com/office/drawing/2014/main" id="{5AE1D9C1-28CD-44CA-B053-4A0A2D94DAF2}"/>
              </a:ext>
            </a:extLst>
          </p:cNvPr>
          <p:cNvSpPr txBox="1"/>
          <p:nvPr/>
        </p:nvSpPr>
        <p:spPr>
          <a:xfrm>
            <a:off x="821248" y="1455028"/>
            <a:ext cx="6338046" cy="369332"/>
          </a:xfrm>
          <a:prstGeom prst="rect">
            <a:avLst/>
          </a:prstGeom>
          <a:noFill/>
        </p:spPr>
        <p:txBody>
          <a:bodyPr wrap="square">
            <a:spAutoFit/>
          </a:bodyPr>
          <a:lstStyle/>
          <a:p>
            <a:r>
              <a:rPr lang="en-US" altLang="zh-CN" sz="1800" b="1" dirty="0">
                <a:solidFill>
                  <a:srgbClr val="FF0000"/>
                </a:solidFill>
                <a:latin typeface="+mn-ea"/>
                <a:cs typeface="Open Sans" panose="020B0606030504020204" pitchFamily="34" charset="0"/>
              </a:rPr>
              <a:t>Compression as Pretext Task </a:t>
            </a:r>
          </a:p>
        </p:txBody>
      </p:sp>
      <p:sp>
        <p:nvSpPr>
          <p:cNvPr id="20" name="文本框 19">
            <a:extLst>
              <a:ext uri="{FF2B5EF4-FFF2-40B4-BE49-F238E27FC236}">
                <a16:creationId xmlns:a16="http://schemas.microsoft.com/office/drawing/2014/main" id="{D4ECB03F-76CA-45E7-AF0F-7BE5398113B0}"/>
              </a:ext>
            </a:extLst>
          </p:cNvPr>
          <p:cNvSpPr txBox="1"/>
          <p:nvPr/>
        </p:nvSpPr>
        <p:spPr>
          <a:xfrm>
            <a:off x="6334538" y="1748849"/>
            <a:ext cx="5117871" cy="369332"/>
          </a:xfrm>
          <a:prstGeom prst="rect">
            <a:avLst/>
          </a:prstGeom>
          <a:noFill/>
        </p:spPr>
        <p:txBody>
          <a:bodyPr wrap="square">
            <a:spAutoFit/>
          </a:bodyPr>
          <a:lstStyle/>
          <a:p>
            <a:r>
              <a:rPr lang="en-US" altLang="zh-CN" sz="1800" b="1" dirty="0"/>
              <a:t>Reconstruction Task</a:t>
            </a:r>
            <a:endParaRPr lang="zh-CN" altLang="en-US" dirty="0"/>
          </a:p>
        </p:txBody>
      </p:sp>
      <p:pic>
        <p:nvPicPr>
          <p:cNvPr id="10" name="图片 9">
            <a:extLst>
              <a:ext uri="{FF2B5EF4-FFF2-40B4-BE49-F238E27FC236}">
                <a16:creationId xmlns:a16="http://schemas.microsoft.com/office/drawing/2014/main" id="{292218D2-0B42-4E41-AEB9-A1EAB1B8642B}"/>
              </a:ext>
            </a:extLst>
          </p:cNvPr>
          <p:cNvPicPr>
            <a:picLocks noChangeAspect="1"/>
          </p:cNvPicPr>
          <p:nvPr/>
        </p:nvPicPr>
        <p:blipFill>
          <a:blip r:embed="rId5"/>
          <a:stretch>
            <a:fillRect/>
          </a:stretch>
        </p:blipFill>
        <p:spPr>
          <a:xfrm>
            <a:off x="6804288" y="2245293"/>
            <a:ext cx="4481506" cy="853839"/>
          </a:xfrm>
          <a:prstGeom prst="rect">
            <a:avLst/>
          </a:prstGeom>
        </p:spPr>
      </p:pic>
      <p:sp>
        <p:nvSpPr>
          <p:cNvPr id="23" name="文本框 22">
            <a:extLst>
              <a:ext uri="{FF2B5EF4-FFF2-40B4-BE49-F238E27FC236}">
                <a16:creationId xmlns:a16="http://schemas.microsoft.com/office/drawing/2014/main" id="{8CACD704-474A-4938-BD41-855936628952}"/>
              </a:ext>
            </a:extLst>
          </p:cNvPr>
          <p:cNvSpPr txBox="1"/>
          <p:nvPr/>
        </p:nvSpPr>
        <p:spPr>
          <a:xfrm>
            <a:off x="6334537" y="3394264"/>
            <a:ext cx="5117871" cy="369332"/>
          </a:xfrm>
          <a:prstGeom prst="rect">
            <a:avLst/>
          </a:prstGeom>
          <a:noFill/>
        </p:spPr>
        <p:txBody>
          <a:bodyPr wrap="square">
            <a:spAutoFit/>
          </a:bodyPr>
          <a:lstStyle/>
          <a:p>
            <a:r>
              <a:rPr lang="en-US" altLang="zh-CN" sz="1800" b="1" dirty="0"/>
              <a:t>Continuation Task</a:t>
            </a:r>
            <a:endParaRPr lang="zh-CN" altLang="en-US" dirty="0"/>
          </a:p>
        </p:txBody>
      </p:sp>
      <p:pic>
        <p:nvPicPr>
          <p:cNvPr id="22" name="图片 21">
            <a:extLst>
              <a:ext uri="{FF2B5EF4-FFF2-40B4-BE49-F238E27FC236}">
                <a16:creationId xmlns:a16="http://schemas.microsoft.com/office/drawing/2014/main" id="{2288F3C2-869E-4678-95B4-82080192554F}"/>
              </a:ext>
            </a:extLst>
          </p:cNvPr>
          <p:cNvPicPr>
            <a:picLocks noChangeAspect="1"/>
          </p:cNvPicPr>
          <p:nvPr/>
        </p:nvPicPr>
        <p:blipFill>
          <a:blip r:embed="rId6"/>
          <a:stretch>
            <a:fillRect/>
          </a:stretch>
        </p:blipFill>
        <p:spPr>
          <a:xfrm>
            <a:off x="6804288" y="3908490"/>
            <a:ext cx="4652269" cy="853839"/>
          </a:xfrm>
          <a:prstGeom prst="rect">
            <a:avLst/>
          </a:prstGeom>
        </p:spPr>
      </p:pic>
      <p:sp>
        <p:nvSpPr>
          <p:cNvPr id="26" name="文本框 25">
            <a:extLst>
              <a:ext uri="{FF2B5EF4-FFF2-40B4-BE49-F238E27FC236}">
                <a16:creationId xmlns:a16="http://schemas.microsoft.com/office/drawing/2014/main" id="{65ABAD6E-3464-4453-90A2-5CE039F50CCC}"/>
              </a:ext>
            </a:extLst>
          </p:cNvPr>
          <p:cNvSpPr txBox="1"/>
          <p:nvPr/>
        </p:nvSpPr>
        <p:spPr>
          <a:xfrm>
            <a:off x="6334537" y="5030715"/>
            <a:ext cx="5117871" cy="369332"/>
          </a:xfrm>
          <a:prstGeom prst="rect">
            <a:avLst/>
          </a:prstGeom>
          <a:noFill/>
        </p:spPr>
        <p:txBody>
          <a:bodyPr wrap="square">
            <a:spAutoFit/>
          </a:bodyPr>
          <a:lstStyle/>
          <a:p>
            <a:r>
              <a:rPr lang="en-US" altLang="zh-CN" sz="1800" b="1" dirty="0"/>
              <a:t>Continuation Task with Knowledge Distillation</a:t>
            </a:r>
            <a:endParaRPr lang="zh-CN" altLang="en-US" dirty="0"/>
          </a:p>
        </p:txBody>
      </p:sp>
      <p:pic>
        <p:nvPicPr>
          <p:cNvPr id="27" name="图片 26">
            <a:extLst>
              <a:ext uri="{FF2B5EF4-FFF2-40B4-BE49-F238E27FC236}">
                <a16:creationId xmlns:a16="http://schemas.microsoft.com/office/drawing/2014/main" id="{A5E2717D-83CB-452B-813F-F53C67D97F6D}"/>
              </a:ext>
            </a:extLst>
          </p:cNvPr>
          <p:cNvPicPr>
            <a:picLocks noChangeAspect="1"/>
          </p:cNvPicPr>
          <p:nvPr/>
        </p:nvPicPr>
        <p:blipFill>
          <a:blip r:embed="rId7"/>
          <a:stretch>
            <a:fillRect/>
          </a:stretch>
        </p:blipFill>
        <p:spPr>
          <a:xfrm>
            <a:off x="6578933" y="5544941"/>
            <a:ext cx="5102978" cy="834927"/>
          </a:xfrm>
          <a:prstGeom prst="rect">
            <a:avLst/>
          </a:prstGeom>
        </p:spPr>
      </p:pic>
      <p:sp>
        <p:nvSpPr>
          <p:cNvPr id="18" name="矩形 17">
            <a:extLst>
              <a:ext uri="{FF2B5EF4-FFF2-40B4-BE49-F238E27FC236}">
                <a16:creationId xmlns:a16="http://schemas.microsoft.com/office/drawing/2014/main" id="{D73C50DA-2899-41B0-A738-85BC6BD13148}"/>
              </a:ext>
            </a:extLst>
          </p:cNvPr>
          <p:cNvSpPr/>
          <p:nvPr/>
        </p:nvSpPr>
        <p:spPr>
          <a:xfrm>
            <a:off x="7531850" y="2299409"/>
            <a:ext cx="302895" cy="35945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文本框 23">
            <a:extLst>
              <a:ext uri="{FF2B5EF4-FFF2-40B4-BE49-F238E27FC236}">
                <a16:creationId xmlns:a16="http://schemas.microsoft.com/office/drawing/2014/main" id="{B1C67B6B-EB8A-4BD9-B165-FF9F78B96261}"/>
              </a:ext>
            </a:extLst>
          </p:cNvPr>
          <p:cNvSpPr txBox="1"/>
          <p:nvPr/>
        </p:nvSpPr>
        <p:spPr>
          <a:xfrm>
            <a:off x="6222195" y="3074008"/>
            <a:ext cx="3225100" cy="461665"/>
          </a:xfrm>
          <a:prstGeom prst="rect">
            <a:avLst/>
          </a:prstGeom>
          <a:noFill/>
        </p:spPr>
        <p:txBody>
          <a:bodyPr wrap="square">
            <a:spAutoFit/>
          </a:bodyPr>
          <a:lstStyle/>
          <a:p>
            <a:pPr algn="ctr"/>
            <a:r>
              <a:rPr lang="en-US" altLang="zh-CN" sz="1200" b="1" dirty="0">
                <a:solidFill>
                  <a:srgbClr val="FF0000"/>
                </a:solidFill>
              </a:rPr>
              <a:t>The encoder is responsible for producing the embeddings of special (memory) tokens</a:t>
            </a:r>
            <a:endParaRPr lang="zh-CN" altLang="en-US" sz="1200" dirty="0">
              <a:solidFill>
                <a:srgbClr val="FF0000"/>
              </a:solidFill>
            </a:endParaRPr>
          </a:p>
        </p:txBody>
      </p:sp>
      <p:sp>
        <p:nvSpPr>
          <p:cNvPr id="28" name="矩形 27">
            <a:extLst>
              <a:ext uri="{FF2B5EF4-FFF2-40B4-BE49-F238E27FC236}">
                <a16:creationId xmlns:a16="http://schemas.microsoft.com/office/drawing/2014/main" id="{635BDC56-AD5C-416B-8D38-7E76A6F1844D}"/>
              </a:ext>
            </a:extLst>
          </p:cNvPr>
          <p:cNvSpPr/>
          <p:nvPr/>
        </p:nvSpPr>
        <p:spPr>
          <a:xfrm>
            <a:off x="7917873" y="2304517"/>
            <a:ext cx="1254103" cy="35945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文本框 28">
            <a:extLst>
              <a:ext uri="{FF2B5EF4-FFF2-40B4-BE49-F238E27FC236}">
                <a16:creationId xmlns:a16="http://schemas.microsoft.com/office/drawing/2014/main" id="{6A7ED0F1-4B00-403B-A17D-57830E23148F}"/>
              </a:ext>
            </a:extLst>
          </p:cNvPr>
          <p:cNvSpPr txBox="1"/>
          <p:nvPr/>
        </p:nvSpPr>
        <p:spPr>
          <a:xfrm>
            <a:off x="6932374" y="3068900"/>
            <a:ext cx="3225100" cy="276999"/>
          </a:xfrm>
          <a:prstGeom prst="rect">
            <a:avLst/>
          </a:prstGeom>
          <a:noFill/>
        </p:spPr>
        <p:txBody>
          <a:bodyPr wrap="square">
            <a:spAutoFit/>
          </a:bodyPr>
          <a:lstStyle/>
          <a:p>
            <a:pPr algn="ctr"/>
            <a:r>
              <a:rPr lang="en-US" altLang="zh-CN" sz="1200" b="1" dirty="0">
                <a:solidFill>
                  <a:srgbClr val="FF0000"/>
                </a:solidFill>
              </a:rPr>
              <a:t>A long context</a:t>
            </a:r>
            <a:endParaRPr lang="zh-CN" altLang="en-US" sz="1200" dirty="0">
              <a:solidFill>
                <a:srgbClr val="FF0000"/>
              </a:solidFill>
            </a:endParaRPr>
          </a:p>
        </p:txBody>
      </p:sp>
      <p:sp>
        <p:nvSpPr>
          <p:cNvPr id="30" name="矩形 29">
            <a:extLst>
              <a:ext uri="{FF2B5EF4-FFF2-40B4-BE49-F238E27FC236}">
                <a16:creationId xmlns:a16="http://schemas.microsoft.com/office/drawing/2014/main" id="{1B2E9945-4BA4-4210-8968-FBEEF26D54F7}"/>
              </a:ext>
            </a:extLst>
          </p:cNvPr>
          <p:cNvSpPr/>
          <p:nvPr/>
        </p:nvSpPr>
        <p:spPr>
          <a:xfrm>
            <a:off x="9293381" y="2302306"/>
            <a:ext cx="1306058" cy="35945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文本框 30">
            <a:extLst>
              <a:ext uri="{FF2B5EF4-FFF2-40B4-BE49-F238E27FC236}">
                <a16:creationId xmlns:a16="http://schemas.microsoft.com/office/drawing/2014/main" id="{6805D5C8-FFDC-4319-8247-0F64F1E32CD9}"/>
              </a:ext>
            </a:extLst>
          </p:cNvPr>
          <p:cNvSpPr txBox="1"/>
          <p:nvPr/>
        </p:nvSpPr>
        <p:spPr>
          <a:xfrm>
            <a:off x="8333860" y="3078990"/>
            <a:ext cx="3225100" cy="276999"/>
          </a:xfrm>
          <a:prstGeom prst="rect">
            <a:avLst/>
          </a:prstGeom>
          <a:noFill/>
        </p:spPr>
        <p:txBody>
          <a:bodyPr wrap="square">
            <a:spAutoFit/>
          </a:bodyPr>
          <a:lstStyle/>
          <a:p>
            <a:pPr algn="ctr"/>
            <a:r>
              <a:rPr lang="en-US" altLang="zh-CN" sz="1200" b="1" dirty="0">
                <a:solidFill>
                  <a:srgbClr val="FF0000"/>
                </a:solidFill>
              </a:rPr>
              <a:t>memory tokens</a:t>
            </a:r>
            <a:endParaRPr lang="zh-CN" altLang="en-US" sz="1200" dirty="0">
              <a:solidFill>
                <a:srgbClr val="FF0000"/>
              </a:solidFill>
            </a:endParaRPr>
          </a:p>
        </p:txBody>
      </p:sp>
      <p:sp>
        <p:nvSpPr>
          <p:cNvPr id="32" name="矩形 31">
            <a:extLst>
              <a:ext uri="{FF2B5EF4-FFF2-40B4-BE49-F238E27FC236}">
                <a16:creationId xmlns:a16="http://schemas.microsoft.com/office/drawing/2014/main" id="{1672C48B-56AC-4DD9-A5C5-532E82A39F0D}"/>
              </a:ext>
            </a:extLst>
          </p:cNvPr>
          <p:cNvSpPr/>
          <p:nvPr/>
        </p:nvSpPr>
        <p:spPr>
          <a:xfrm>
            <a:off x="10734522" y="2297162"/>
            <a:ext cx="503100" cy="35945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文本框 32">
            <a:extLst>
              <a:ext uri="{FF2B5EF4-FFF2-40B4-BE49-F238E27FC236}">
                <a16:creationId xmlns:a16="http://schemas.microsoft.com/office/drawing/2014/main" id="{1A82D456-DB24-4E7A-8E5F-A5D6649C9D7F}"/>
              </a:ext>
            </a:extLst>
          </p:cNvPr>
          <p:cNvSpPr txBox="1"/>
          <p:nvPr/>
        </p:nvSpPr>
        <p:spPr>
          <a:xfrm>
            <a:off x="9429098" y="3066347"/>
            <a:ext cx="3225100" cy="276999"/>
          </a:xfrm>
          <a:prstGeom prst="rect">
            <a:avLst/>
          </a:prstGeom>
          <a:noFill/>
        </p:spPr>
        <p:txBody>
          <a:bodyPr wrap="square">
            <a:spAutoFit/>
          </a:bodyPr>
          <a:lstStyle/>
          <a:p>
            <a:pPr algn="ctr"/>
            <a:r>
              <a:rPr lang="en-US" altLang="zh-CN" sz="1200" b="1" dirty="0">
                <a:solidFill>
                  <a:srgbClr val="FF0000"/>
                </a:solidFill>
              </a:rPr>
              <a:t>Last token’s last hidden state</a:t>
            </a:r>
            <a:endParaRPr lang="zh-CN" altLang="en-US" sz="1200" dirty="0">
              <a:solidFill>
                <a:srgbClr val="FF0000"/>
              </a:solidFill>
            </a:endParaRPr>
          </a:p>
        </p:txBody>
      </p:sp>
      <p:sp>
        <p:nvSpPr>
          <p:cNvPr id="34" name="矩形 33">
            <a:extLst>
              <a:ext uri="{FF2B5EF4-FFF2-40B4-BE49-F238E27FC236}">
                <a16:creationId xmlns:a16="http://schemas.microsoft.com/office/drawing/2014/main" id="{FF9CCFE9-B185-4581-8CC1-AA5A0D0E3674}"/>
              </a:ext>
            </a:extLst>
          </p:cNvPr>
          <p:cNvSpPr/>
          <p:nvPr/>
        </p:nvSpPr>
        <p:spPr>
          <a:xfrm>
            <a:off x="7496345" y="2690715"/>
            <a:ext cx="302895" cy="35945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文本框 34">
            <a:extLst>
              <a:ext uri="{FF2B5EF4-FFF2-40B4-BE49-F238E27FC236}">
                <a16:creationId xmlns:a16="http://schemas.microsoft.com/office/drawing/2014/main" id="{A34E7A0B-9653-4800-AB7B-D5B146F5F579}"/>
              </a:ext>
            </a:extLst>
          </p:cNvPr>
          <p:cNvSpPr txBox="1"/>
          <p:nvPr/>
        </p:nvSpPr>
        <p:spPr>
          <a:xfrm>
            <a:off x="6222651" y="3145042"/>
            <a:ext cx="2755349" cy="276999"/>
          </a:xfrm>
          <a:prstGeom prst="rect">
            <a:avLst/>
          </a:prstGeom>
          <a:noFill/>
        </p:spPr>
        <p:txBody>
          <a:bodyPr wrap="square">
            <a:spAutoFit/>
          </a:bodyPr>
          <a:lstStyle/>
          <a:p>
            <a:pPr algn="ctr"/>
            <a:r>
              <a:rPr lang="en-US" altLang="zh-CN" sz="1200" b="1" dirty="0">
                <a:solidFill>
                  <a:srgbClr val="FF0000"/>
                </a:solidFill>
              </a:rPr>
              <a:t>Original LLM</a:t>
            </a:r>
            <a:endParaRPr lang="zh-CN" altLang="en-US" sz="1200" dirty="0">
              <a:solidFill>
                <a:srgbClr val="FF0000"/>
              </a:solidFill>
            </a:endParaRPr>
          </a:p>
        </p:txBody>
      </p:sp>
      <p:sp>
        <p:nvSpPr>
          <p:cNvPr id="36" name="矩形 35">
            <a:extLst>
              <a:ext uri="{FF2B5EF4-FFF2-40B4-BE49-F238E27FC236}">
                <a16:creationId xmlns:a16="http://schemas.microsoft.com/office/drawing/2014/main" id="{8AC9A2CB-0B17-42AD-9BF7-E072E37F72CD}"/>
              </a:ext>
            </a:extLst>
          </p:cNvPr>
          <p:cNvSpPr/>
          <p:nvPr/>
        </p:nvSpPr>
        <p:spPr>
          <a:xfrm>
            <a:off x="9363245" y="4344934"/>
            <a:ext cx="1807675" cy="35945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文本框 36">
            <a:extLst>
              <a:ext uri="{FF2B5EF4-FFF2-40B4-BE49-F238E27FC236}">
                <a16:creationId xmlns:a16="http://schemas.microsoft.com/office/drawing/2014/main" id="{9534D119-4628-4A61-BFFA-608E15C7D876}"/>
              </a:ext>
            </a:extLst>
          </p:cNvPr>
          <p:cNvSpPr txBox="1"/>
          <p:nvPr/>
        </p:nvSpPr>
        <p:spPr>
          <a:xfrm>
            <a:off x="8654532" y="4785282"/>
            <a:ext cx="3225100" cy="276999"/>
          </a:xfrm>
          <a:prstGeom prst="rect">
            <a:avLst/>
          </a:prstGeom>
          <a:noFill/>
        </p:spPr>
        <p:txBody>
          <a:bodyPr wrap="square">
            <a:spAutoFit/>
          </a:bodyPr>
          <a:lstStyle/>
          <a:p>
            <a:pPr algn="ctr"/>
            <a:r>
              <a:rPr lang="en-US" altLang="zh-CN" sz="1200" b="1" dirty="0">
                <a:solidFill>
                  <a:srgbClr val="FF0000"/>
                </a:solidFill>
              </a:rPr>
              <a:t>Subsequent/Continual Tokens</a:t>
            </a:r>
            <a:endParaRPr lang="zh-CN" altLang="en-US" sz="1200" dirty="0">
              <a:solidFill>
                <a:srgbClr val="FF0000"/>
              </a:solidFill>
            </a:endParaRPr>
          </a:p>
        </p:txBody>
      </p:sp>
    </p:spTree>
    <p:extLst>
      <p:ext uri="{BB962C8B-B14F-4D97-AF65-F5344CB8AC3E}">
        <p14:creationId xmlns:p14="http://schemas.microsoft.com/office/powerpoint/2010/main" val="19153784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barn(inVertical)">
                                      <p:cBhvr>
                                        <p:cTn id="7" dur="500"/>
                                        <p:tgtEl>
                                          <p:spTgt spid="18"/>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24"/>
                                        </p:tgtEl>
                                        <p:attrNameLst>
                                          <p:attrName>style.visibility</p:attrName>
                                        </p:attrNameLst>
                                      </p:cBhvr>
                                      <p:to>
                                        <p:strVal val="visible"/>
                                      </p:to>
                                    </p:set>
                                    <p:animEffect transition="in" filter="barn(inVertical)">
                                      <p:cBhvr>
                                        <p:cTn id="10" dur="500"/>
                                        <p:tgtEl>
                                          <p:spTgt spid="24"/>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1" nodeType="clickEffect">
                                  <p:stCondLst>
                                    <p:cond delay="0"/>
                                  </p:stCondLst>
                                  <p:childTnLst>
                                    <p:set>
                                      <p:cBhvr>
                                        <p:cTn id="14" dur="1" fill="hold">
                                          <p:stCondLst>
                                            <p:cond delay="0"/>
                                          </p:stCondLst>
                                        </p:cTn>
                                        <p:tgtEl>
                                          <p:spTgt spid="18"/>
                                        </p:tgtEl>
                                        <p:attrNameLst>
                                          <p:attrName>style.visibility</p:attrName>
                                        </p:attrNameLst>
                                      </p:cBhvr>
                                      <p:to>
                                        <p:strVal val="hidden"/>
                                      </p:to>
                                    </p:set>
                                  </p:childTnLst>
                                </p:cTn>
                              </p:par>
                              <p:par>
                                <p:cTn id="15" presetID="1" presetClass="exit" presetSubtype="0" fill="hold" grpId="1" nodeType="withEffect">
                                  <p:stCondLst>
                                    <p:cond delay="0"/>
                                  </p:stCondLst>
                                  <p:childTnLst>
                                    <p:set>
                                      <p:cBhvr>
                                        <p:cTn id="16" dur="1" fill="hold">
                                          <p:stCondLst>
                                            <p:cond delay="0"/>
                                          </p:stCondLst>
                                        </p:cTn>
                                        <p:tgtEl>
                                          <p:spTgt spid="24"/>
                                        </p:tgtEl>
                                        <p:attrNameLst>
                                          <p:attrName>style.visibility</p:attrName>
                                        </p:attrNameLst>
                                      </p:cBhvr>
                                      <p:to>
                                        <p:strVal val="hidden"/>
                                      </p:to>
                                    </p:set>
                                  </p:childTnLst>
                                </p:cTn>
                              </p:par>
                            </p:childTnLst>
                          </p:cTn>
                        </p:par>
                      </p:childTnLst>
                    </p:cTn>
                  </p:par>
                  <p:par>
                    <p:cTn id="17" fill="hold">
                      <p:stCondLst>
                        <p:cond delay="indefinite"/>
                      </p:stCondLst>
                      <p:childTnLst>
                        <p:par>
                          <p:cTn id="18" fill="hold">
                            <p:stCondLst>
                              <p:cond delay="0"/>
                            </p:stCondLst>
                            <p:childTnLst>
                              <p:par>
                                <p:cTn id="19" presetID="16" presetClass="entr" presetSubtype="21" fill="hold" grpId="0" nodeType="clickEffect">
                                  <p:stCondLst>
                                    <p:cond delay="0"/>
                                  </p:stCondLst>
                                  <p:childTnLst>
                                    <p:set>
                                      <p:cBhvr>
                                        <p:cTn id="20" dur="1" fill="hold">
                                          <p:stCondLst>
                                            <p:cond delay="0"/>
                                          </p:stCondLst>
                                        </p:cTn>
                                        <p:tgtEl>
                                          <p:spTgt spid="28"/>
                                        </p:tgtEl>
                                        <p:attrNameLst>
                                          <p:attrName>style.visibility</p:attrName>
                                        </p:attrNameLst>
                                      </p:cBhvr>
                                      <p:to>
                                        <p:strVal val="visible"/>
                                      </p:to>
                                    </p:set>
                                    <p:animEffect transition="in" filter="barn(inVertical)">
                                      <p:cBhvr>
                                        <p:cTn id="21" dur="500"/>
                                        <p:tgtEl>
                                          <p:spTgt spid="28"/>
                                        </p:tgtEl>
                                      </p:cBhvr>
                                    </p:animEffect>
                                  </p:childTnLst>
                                </p:cTn>
                              </p:par>
                              <p:par>
                                <p:cTn id="22" presetID="16" presetClass="entr" presetSubtype="21" fill="hold" grpId="0" nodeType="with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barn(inVertical)">
                                      <p:cBhvr>
                                        <p:cTn id="24" dur="500"/>
                                        <p:tgtEl>
                                          <p:spTgt spid="29"/>
                                        </p:tgtEl>
                                      </p:cBhvr>
                                    </p:animEffect>
                                  </p:childTnLst>
                                </p:cTn>
                              </p:par>
                            </p:childTnLst>
                          </p:cTn>
                        </p:par>
                      </p:childTnLst>
                    </p:cTn>
                  </p:par>
                  <p:par>
                    <p:cTn id="25" fill="hold">
                      <p:stCondLst>
                        <p:cond delay="indefinite"/>
                      </p:stCondLst>
                      <p:childTnLst>
                        <p:par>
                          <p:cTn id="26" fill="hold">
                            <p:stCondLst>
                              <p:cond delay="0"/>
                            </p:stCondLst>
                            <p:childTnLst>
                              <p:par>
                                <p:cTn id="27" presetID="1" presetClass="exit" presetSubtype="0" fill="hold" grpId="1" nodeType="clickEffect">
                                  <p:stCondLst>
                                    <p:cond delay="0"/>
                                  </p:stCondLst>
                                  <p:childTnLst>
                                    <p:set>
                                      <p:cBhvr>
                                        <p:cTn id="28" dur="1" fill="hold">
                                          <p:stCondLst>
                                            <p:cond delay="0"/>
                                          </p:stCondLst>
                                        </p:cTn>
                                        <p:tgtEl>
                                          <p:spTgt spid="28"/>
                                        </p:tgtEl>
                                        <p:attrNameLst>
                                          <p:attrName>style.visibility</p:attrName>
                                        </p:attrNameLst>
                                      </p:cBhvr>
                                      <p:to>
                                        <p:strVal val="hidden"/>
                                      </p:to>
                                    </p:set>
                                  </p:childTnLst>
                                </p:cTn>
                              </p:par>
                              <p:par>
                                <p:cTn id="29" presetID="1" presetClass="exit" presetSubtype="0" fill="hold" grpId="1" nodeType="withEffect">
                                  <p:stCondLst>
                                    <p:cond delay="0"/>
                                  </p:stCondLst>
                                  <p:childTnLst>
                                    <p:set>
                                      <p:cBhvr>
                                        <p:cTn id="30" dur="1" fill="hold">
                                          <p:stCondLst>
                                            <p:cond delay="0"/>
                                          </p:stCondLst>
                                        </p:cTn>
                                        <p:tgtEl>
                                          <p:spTgt spid="29"/>
                                        </p:tgtEl>
                                        <p:attrNameLst>
                                          <p:attrName>style.visibility</p:attrName>
                                        </p:attrNameLst>
                                      </p:cBhvr>
                                      <p:to>
                                        <p:strVal val="hidden"/>
                                      </p:to>
                                    </p:set>
                                  </p:childTnLst>
                                </p:cTn>
                              </p:par>
                            </p:childTnLst>
                          </p:cTn>
                        </p:par>
                      </p:childTnLst>
                    </p:cTn>
                  </p:par>
                  <p:par>
                    <p:cTn id="31" fill="hold">
                      <p:stCondLst>
                        <p:cond delay="indefinite"/>
                      </p:stCondLst>
                      <p:childTnLst>
                        <p:par>
                          <p:cTn id="32" fill="hold">
                            <p:stCondLst>
                              <p:cond delay="0"/>
                            </p:stCondLst>
                            <p:childTnLst>
                              <p:par>
                                <p:cTn id="33" presetID="16" presetClass="entr" presetSubtype="21" fill="hold" grpId="0" nodeType="clickEffect">
                                  <p:stCondLst>
                                    <p:cond delay="0"/>
                                  </p:stCondLst>
                                  <p:childTnLst>
                                    <p:set>
                                      <p:cBhvr>
                                        <p:cTn id="34" dur="1" fill="hold">
                                          <p:stCondLst>
                                            <p:cond delay="0"/>
                                          </p:stCondLst>
                                        </p:cTn>
                                        <p:tgtEl>
                                          <p:spTgt spid="30"/>
                                        </p:tgtEl>
                                        <p:attrNameLst>
                                          <p:attrName>style.visibility</p:attrName>
                                        </p:attrNameLst>
                                      </p:cBhvr>
                                      <p:to>
                                        <p:strVal val="visible"/>
                                      </p:to>
                                    </p:set>
                                    <p:animEffect transition="in" filter="barn(inVertical)">
                                      <p:cBhvr>
                                        <p:cTn id="35" dur="500"/>
                                        <p:tgtEl>
                                          <p:spTgt spid="30"/>
                                        </p:tgtEl>
                                      </p:cBhvr>
                                    </p:animEffect>
                                  </p:childTnLst>
                                </p:cTn>
                              </p:par>
                              <p:par>
                                <p:cTn id="36" presetID="16" presetClass="entr" presetSubtype="21" fill="hold" grpId="0" nodeType="withEffect">
                                  <p:stCondLst>
                                    <p:cond delay="0"/>
                                  </p:stCondLst>
                                  <p:childTnLst>
                                    <p:set>
                                      <p:cBhvr>
                                        <p:cTn id="37" dur="1" fill="hold">
                                          <p:stCondLst>
                                            <p:cond delay="0"/>
                                          </p:stCondLst>
                                        </p:cTn>
                                        <p:tgtEl>
                                          <p:spTgt spid="31"/>
                                        </p:tgtEl>
                                        <p:attrNameLst>
                                          <p:attrName>style.visibility</p:attrName>
                                        </p:attrNameLst>
                                      </p:cBhvr>
                                      <p:to>
                                        <p:strVal val="visible"/>
                                      </p:to>
                                    </p:set>
                                    <p:animEffect transition="in" filter="barn(inVertical)">
                                      <p:cBhvr>
                                        <p:cTn id="38" dur="500"/>
                                        <p:tgtEl>
                                          <p:spTgt spid="31"/>
                                        </p:tgtEl>
                                      </p:cBhvr>
                                    </p:animEffect>
                                  </p:childTnLst>
                                </p:cTn>
                              </p:par>
                            </p:childTnLst>
                          </p:cTn>
                        </p:par>
                      </p:childTnLst>
                    </p:cTn>
                  </p:par>
                  <p:par>
                    <p:cTn id="39" fill="hold">
                      <p:stCondLst>
                        <p:cond delay="indefinite"/>
                      </p:stCondLst>
                      <p:childTnLst>
                        <p:par>
                          <p:cTn id="40" fill="hold">
                            <p:stCondLst>
                              <p:cond delay="0"/>
                            </p:stCondLst>
                            <p:childTnLst>
                              <p:par>
                                <p:cTn id="41" presetID="1" presetClass="exit" presetSubtype="0" fill="hold" grpId="1" nodeType="clickEffect">
                                  <p:stCondLst>
                                    <p:cond delay="0"/>
                                  </p:stCondLst>
                                  <p:childTnLst>
                                    <p:set>
                                      <p:cBhvr>
                                        <p:cTn id="42" dur="1" fill="hold">
                                          <p:stCondLst>
                                            <p:cond delay="0"/>
                                          </p:stCondLst>
                                        </p:cTn>
                                        <p:tgtEl>
                                          <p:spTgt spid="30"/>
                                        </p:tgtEl>
                                        <p:attrNameLst>
                                          <p:attrName>style.visibility</p:attrName>
                                        </p:attrNameLst>
                                      </p:cBhvr>
                                      <p:to>
                                        <p:strVal val="hidden"/>
                                      </p:to>
                                    </p:set>
                                  </p:childTnLst>
                                </p:cTn>
                              </p:par>
                              <p:par>
                                <p:cTn id="43" presetID="1" presetClass="exit" presetSubtype="0" fill="hold" grpId="1" nodeType="withEffect">
                                  <p:stCondLst>
                                    <p:cond delay="0"/>
                                  </p:stCondLst>
                                  <p:childTnLst>
                                    <p:set>
                                      <p:cBhvr>
                                        <p:cTn id="44" dur="1" fill="hold">
                                          <p:stCondLst>
                                            <p:cond delay="0"/>
                                          </p:stCondLst>
                                        </p:cTn>
                                        <p:tgtEl>
                                          <p:spTgt spid="31"/>
                                        </p:tgtEl>
                                        <p:attrNameLst>
                                          <p:attrName>style.visibility</p:attrName>
                                        </p:attrNameLst>
                                      </p:cBhvr>
                                      <p:to>
                                        <p:strVal val="hidden"/>
                                      </p:to>
                                    </p:set>
                                  </p:childTnLst>
                                </p:cTn>
                              </p:par>
                            </p:childTnLst>
                          </p:cTn>
                        </p:par>
                      </p:childTnLst>
                    </p:cTn>
                  </p:par>
                  <p:par>
                    <p:cTn id="45" fill="hold">
                      <p:stCondLst>
                        <p:cond delay="indefinite"/>
                      </p:stCondLst>
                      <p:childTnLst>
                        <p:par>
                          <p:cTn id="46" fill="hold">
                            <p:stCondLst>
                              <p:cond delay="0"/>
                            </p:stCondLst>
                            <p:childTnLst>
                              <p:par>
                                <p:cTn id="47" presetID="16" presetClass="entr" presetSubtype="21" fill="hold" grpId="0" nodeType="clickEffect">
                                  <p:stCondLst>
                                    <p:cond delay="0"/>
                                  </p:stCondLst>
                                  <p:childTnLst>
                                    <p:set>
                                      <p:cBhvr>
                                        <p:cTn id="48" dur="1" fill="hold">
                                          <p:stCondLst>
                                            <p:cond delay="0"/>
                                          </p:stCondLst>
                                        </p:cTn>
                                        <p:tgtEl>
                                          <p:spTgt spid="32"/>
                                        </p:tgtEl>
                                        <p:attrNameLst>
                                          <p:attrName>style.visibility</p:attrName>
                                        </p:attrNameLst>
                                      </p:cBhvr>
                                      <p:to>
                                        <p:strVal val="visible"/>
                                      </p:to>
                                    </p:set>
                                    <p:animEffect transition="in" filter="barn(inVertical)">
                                      <p:cBhvr>
                                        <p:cTn id="49" dur="500"/>
                                        <p:tgtEl>
                                          <p:spTgt spid="32"/>
                                        </p:tgtEl>
                                      </p:cBhvr>
                                    </p:animEffect>
                                  </p:childTnLst>
                                </p:cTn>
                              </p:par>
                              <p:par>
                                <p:cTn id="50" presetID="16" presetClass="entr" presetSubtype="21" fill="hold" grpId="0" nodeType="withEffect">
                                  <p:stCondLst>
                                    <p:cond delay="0"/>
                                  </p:stCondLst>
                                  <p:childTnLst>
                                    <p:set>
                                      <p:cBhvr>
                                        <p:cTn id="51" dur="1" fill="hold">
                                          <p:stCondLst>
                                            <p:cond delay="0"/>
                                          </p:stCondLst>
                                        </p:cTn>
                                        <p:tgtEl>
                                          <p:spTgt spid="33"/>
                                        </p:tgtEl>
                                        <p:attrNameLst>
                                          <p:attrName>style.visibility</p:attrName>
                                        </p:attrNameLst>
                                      </p:cBhvr>
                                      <p:to>
                                        <p:strVal val="visible"/>
                                      </p:to>
                                    </p:set>
                                    <p:animEffect transition="in" filter="barn(inVertical)">
                                      <p:cBhvr>
                                        <p:cTn id="52" dur="500"/>
                                        <p:tgtEl>
                                          <p:spTgt spid="33"/>
                                        </p:tgtEl>
                                      </p:cBhvr>
                                    </p:animEffect>
                                  </p:childTnLst>
                                </p:cTn>
                              </p:par>
                            </p:childTnLst>
                          </p:cTn>
                        </p:par>
                      </p:childTnLst>
                    </p:cTn>
                  </p:par>
                  <p:par>
                    <p:cTn id="53" fill="hold">
                      <p:stCondLst>
                        <p:cond delay="indefinite"/>
                      </p:stCondLst>
                      <p:childTnLst>
                        <p:par>
                          <p:cTn id="54" fill="hold">
                            <p:stCondLst>
                              <p:cond delay="0"/>
                            </p:stCondLst>
                            <p:childTnLst>
                              <p:par>
                                <p:cTn id="55" presetID="1" presetClass="exit" presetSubtype="0" fill="hold" grpId="1" nodeType="clickEffect">
                                  <p:stCondLst>
                                    <p:cond delay="0"/>
                                  </p:stCondLst>
                                  <p:childTnLst>
                                    <p:set>
                                      <p:cBhvr>
                                        <p:cTn id="56" dur="1" fill="hold">
                                          <p:stCondLst>
                                            <p:cond delay="0"/>
                                          </p:stCondLst>
                                        </p:cTn>
                                        <p:tgtEl>
                                          <p:spTgt spid="32"/>
                                        </p:tgtEl>
                                        <p:attrNameLst>
                                          <p:attrName>style.visibility</p:attrName>
                                        </p:attrNameLst>
                                      </p:cBhvr>
                                      <p:to>
                                        <p:strVal val="hidden"/>
                                      </p:to>
                                    </p:set>
                                  </p:childTnLst>
                                </p:cTn>
                              </p:par>
                              <p:par>
                                <p:cTn id="57" presetID="1" presetClass="exit" presetSubtype="0" fill="hold" grpId="1" nodeType="withEffect">
                                  <p:stCondLst>
                                    <p:cond delay="0"/>
                                  </p:stCondLst>
                                  <p:childTnLst>
                                    <p:set>
                                      <p:cBhvr>
                                        <p:cTn id="58" dur="1" fill="hold">
                                          <p:stCondLst>
                                            <p:cond delay="0"/>
                                          </p:stCondLst>
                                        </p:cTn>
                                        <p:tgtEl>
                                          <p:spTgt spid="33"/>
                                        </p:tgtEl>
                                        <p:attrNameLst>
                                          <p:attrName>style.visibility</p:attrName>
                                        </p:attrNameLst>
                                      </p:cBhvr>
                                      <p:to>
                                        <p:strVal val="hidden"/>
                                      </p:to>
                                    </p:set>
                                  </p:childTnLst>
                                </p:cTn>
                              </p:par>
                            </p:childTnLst>
                          </p:cTn>
                        </p:par>
                      </p:childTnLst>
                    </p:cTn>
                  </p:par>
                  <p:par>
                    <p:cTn id="59" fill="hold">
                      <p:stCondLst>
                        <p:cond delay="indefinite"/>
                      </p:stCondLst>
                      <p:childTnLst>
                        <p:par>
                          <p:cTn id="60" fill="hold">
                            <p:stCondLst>
                              <p:cond delay="0"/>
                            </p:stCondLst>
                            <p:childTnLst>
                              <p:par>
                                <p:cTn id="61" presetID="16" presetClass="entr" presetSubtype="21" fill="hold" grpId="0" nodeType="clickEffect">
                                  <p:stCondLst>
                                    <p:cond delay="0"/>
                                  </p:stCondLst>
                                  <p:childTnLst>
                                    <p:set>
                                      <p:cBhvr>
                                        <p:cTn id="62" dur="1" fill="hold">
                                          <p:stCondLst>
                                            <p:cond delay="0"/>
                                          </p:stCondLst>
                                        </p:cTn>
                                        <p:tgtEl>
                                          <p:spTgt spid="34"/>
                                        </p:tgtEl>
                                        <p:attrNameLst>
                                          <p:attrName>style.visibility</p:attrName>
                                        </p:attrNameLst>
                                      </p:cBhvr>
                                      <p:to>
                                        <p:strVal val="visible"/>
                                      </p:to>
                                    </p:set>
                                    <p:animEffect transition="in" filter="barn(inVertical)">
                                      <p:cBhvr>
                                        <p:cTn id="63" dur="500"/>
                                        <p:tgtEl>
                                          <p:spTgt spid="34"/>
                                        </p:tgtEl>
                                      </p:cBhvr>
                                    </p:animEffect>
                                  </p:childTnLst>
                                </p:cTn>
                              </p:par>
                              <p:par>
                                <p:cTn id="64" presetID="16" presetClass="entr" presetSubtype="21" fill="hold" grpId="0" nodeType="withEffect">
                                  <p:stCondLst>
                                    <p:cond delay="0"/>
                                  </p:stCondLst>
                                  <p:childTnLst>
                                    <p:set>
                                      <p:cBhvr>
                                        <p:cTn id="65" dur="1" fill="hold">
                                          <p:stCondLst>
                                            <p:cond delay="0"/>
                                          </p:stCondLst>
                                        </p:cTn>
                                        <p:tgtEl>
                                          <p:spTgt spid="35"/>
                                        </p:tgtEl>
                                        <p:attrNameLst>
                                          <p:attrName>style.visibility</p:attrName>
                                        </p:attrNameLst>
                                      </p:cBhvr>
                                      <p:to>
                                        <p:strVal val="visible"/>
                                      </p:to>
                                    </p:set>
                                    <p:animEffect transition="in" filter="barn(inVertical)">
                                      <p:cBhvr>
                                        <p:cTn id="66" dur="500"/>
                                        <p:tgtEl>
                                          <p:spTgt spid="35"/>
                                        </p:tgtEl>
                                      </p:cBhvr>
                                    </p:animEffect>
                                  </p:childTnLst>
                                </p:cTn>
                              </p:par>
                            </p:childTnLst>
                          </p:cTn>
                        </p:par>
                      </p:childTnLst>
                    </p:cTn>
                  </p:par>
                  <p:par>
                    <p:cTn id="67" fill="hold">
                      <p:stCondLst>
                        <p:cond delay="indefinite"/>
                      </p:stCondLst>
                      <p:childTnLst>
                        <p:par>
                          <p:cTn id="68" fill="hold">
                            <p:stCondLst>
                              <p:cond delay="0"/>
                            </p:stCondLst>
                            <p:childTnLst>
                              <p:par>
                                <p:cTn id="69" presetID="1" presetClass="exit" presetSubtype="0" fill="hold" grpId="1" nodeType="clickEffect">
                                  <p:stCondLst>
                                    <p:cond delay="0"/>
                                  </p:stCondLst>
                                  <p:childTnLst>
                                    <p:set>
                                      <p:cBhvr>
                                        <p:cTn id="70" dur="1" fill="hold">
                                          <p:stCondLst>
                                            <p:cond delay="0"/>
                                          </p:stCondLst>
                                        </p:cTn>
                                        <p:tgtEl>
                                          <p:spTgt spid="34"/>
                                        </p:tgtEl>
                                        <p:attrNameLst>
                                          <p:attrName>style.visibility</p:attrName>
                                        </p:attrNameLst>
                                      </p:cBhvr>
                                      <p:to>
                                        <p:strVal val="hidden"/>
                                      </p:to>
                                    </p:set>
                                  </p:childTnLst>
                                </p:cTn>
                              </p:par>
                              <p:par>
                                <p:cTn id="71" presetID="1" presetClass="exit" presetSubtype="0" fill="hold" grpId="1" nodeType="withEffect">
                                  <p:stCondLst>
                                    <p:cond delay="0"/>
                                  </p:stCondLst>
                                  <p:childTnLst>
                                    <p:set>
                                      <p:cBhvr>
                                        <p:cTn id="72" dur="1" fill="hold">
                                          <p:stCondLst>
                                            <p:cond delay="0"/>
                                          </p:stCondLst>
                                        </p:cTn>
                                        <p:tgtEl>
                                          <p:spTgt spid="35"/>
                                        </p:tgtEl>
                                        <p:attrNameLst>
                                          <p:attrName>style.visibility</p:attrName>
                                        </p:attrNameLst>
                                      </p:cBhvr>
                                      <p:to>
                                        <p:strVal val="hidden"/>
                                      </p:to>
                                    </p:set>
                                  </p:childTnLst>
                                </p:cTn>
                              </p:par>
                            </p:childTnLst>
                          </p:cTn>
                        </p:par>
                      </p:childTnLst>
                    </p:cTn>
                  </p:par>
                  <p:par>
                    <p:cTn id="73" fill="hold">
                      <p:stCondLst>
                        <p:cond delay="indefinite"/>
                      </p:stCondLst>
                      <p:childTnLst>
                        <p:par>
                          <p:cTn id="74" fill="hold">
                            <p:stCondLst>
                              <p:cond delay="0"/>
                            </p:stCondLst>
                            <p:childTnLst>
                              <p:par>
                                <p:cTn id="75" presetID="16" presetClass="entr" presetSubtype="21" fill="hold" grpId="0" nodeType="clickEffect">
                                  <p:stCondLst>
                                    <p:cond delay="0"/>
                                  </p:stCondLst>
                                  <p:childTnLst>
                                    <p:set>
                                      <p:cBhvr>
                                        <p:cTn id="76" dur="1" fill="hold">
                                          <p:stCondLst>
                                            <p:cond delay="0"/>
                                          </p:stCondLst>
                                        </p:cTn>
                                        <p:tgtEl>
                                          <p:spTgt spid="36"/>
                                        </p:tgtEl>
                                        <p:attrNameLst>
                                          <p:attrName>style.visibility</p:attrName>
                                        </p:attrNameLst>
                                      </p:cBhvr>
                                      <p:to>
                                        <p:strVal val="visible"/>
                                      </p:to>
                                    </p:set>
                                    <p:animEffect transition="in" filter="barn(inVertical)">
                                      <p:cBhvr>
                                        <p:cTn id="77" dur="500"/>
                                        <p:tgtEl>
                                          <p:spTgt spid="36"/>
                                        </p:tgtEl>
                                      </p:cBhvr>
                                    </p:animEffect>
                                  </p:childTnLst>
                                </p:cTn>
                              </p:par>
                            </p:childTnLst>
                          </p:cTn>
                        </p:par>
                      </p:childTnLst>
                    </p:cTn>
                  </p:par>
                  <p:par>
                    <p:cTn id="78" fill="hold">
                      <p:stCondLst>
                        <p:cond delay="indefinite"/>
                      </p:stCondLst>
                      <p:childTnLst>
                        <p:par>
                          <p:cTn id="79" fill="hold">
                            <p:stCondLst>
                              <p:cond delay="0"/>
                            </p:stCondLst>
                            <p:childTnLst>
                              <p:par>
                                <p:cTn id="80" presetID="1" presetClass="exit" presetSubtype="0" fill="hold" grpId="1" nodeType="clickEffect">
                                  <p:stCondLst>
                                    <p:cond delay="0"/>
                                  </p:stCondLst>
                                  <p:childTnLst>
                                    <p:set>
                                      <p:cBhvr>
                                        <p:cTn id="81" dur="1" fill="hold">
                                          <p:stCondLst>
                                            <p:cond delay="0"/>
                                          </p:stCondLst>
                                        </p:cTn>
                                        <p:tgtEl>
                                          <p:spTgt spid="36"/>
                                        </p:tgtEl>
                                        <p:attrNameLst>
                                          <p:attrName>style.visibility</p:attrName>
                                        </p:attrNameLst>
                                      </p:cBhvr>
                                      <p:to>
                                        <p:strVal val="hidden"/>
                                      </p:to>
                                    </p:set>
                                  </p:childTnLst>
                                </p:cTn>
                              </p:par>
                              <p:par>
                                <p:cTn id="82" presetID="16" presetClass="entr" presetSubtype="21" fill="hold" grpId="0" nodeType="withEffect">
                                  <p:stCondLst>
                                    <p:cond delay="0"/>
                                  </p:stCondLst>
                                  <p:childTnLst>
                                    <p:set>
                                      <p:cBhvr>
                                        <p:cTn id="83" dur="1" fill="hold">
                                          <p:stCondLst>
                                            <p:cond delay="0"/>
                                          </p:stCondLst>
                                        </p:cTn>
                                        <p:tgtEl>
                                          <p:spTgt spid="37"/>
                                        </p:tgtEl>
                                        <p:attrNameLst>
                                          <p:attrName>style.visibility</p:attrName>
                                        </p:attrNameLst>
                                      </p:cBhvr>
                                      <p:to>
                                        <p:strVal val="visible"/>
                                      </p:to>
                                    </p:set>
                                    <p:animEffect transition="in" filter="barn(inVertical)">
                                      <p:cBhvr>
                                        <p:cTn id="84" dur="500"/>
                                        <p:tgtEl>
                                          <p:spTgt spid="37"/>
                                        </p:tgtEl>
                                      </p:cBhvr>
                                    </p:animEffect>
                                  </p:childTnLst>
                                </p:cTn>
                              </p:par>
                              <p:par>
                                <p:cTn id="85" presetID="1" presetClass="exit" presetSubtype="0" fill="hold" grpId="1" nodeType="withEffect">
                                  <p:stCondLst>
                                    <p:cond delay="0"/>
                                  </p:stCondLst>
                                  <p:childTnLst>
                                    <p:set>
                                      <p:cBhvr>
                                        <p:cTn id="86" dur="1" fill="hold">
                                          <p:stCondLst>
                                            <p:cond delay="0"/>
                                          </p:stCondLst>
                                        </p:cTn>
                                        <p:tgtEl>
                                          <p:spTgt spid="3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8" grpId="1" animBg="1"/>
      <p:bldP spid="24" grpId="0"/>
      <p:bldP spid="24" grpId="1"/>
      <p:bldP spid="28" grpId="0" animBg="1"/>
      <p:bldP spid="28" grpId="1" animBg="1"/>
      <p:bldP spid="29" grpId="0"/>
      <p:bldP spid="29" grpId="1"/>
      <p:bldP spid="30" grpId="0" animBg="1"/>
      <p:bldP spid="30" grpId="1" animBg="1"/>
      <p:bldP spid="31" grpId="0"/>
      <p:bldP spid="31" grpId="1"/>
      <p:bldP spid="32" grpId="0" animBg="1"/>
      <p:bldP spid="32" grpId="1" animBg="1"/>
      <p:bldP spid="33" grpId="0"/>
      <p:bldP spid="33" grpId="1"/>
      <p:bldP spid="34" grpId="0" animBg="1"/>
      <p:bldP spid="34" grpId="1" animBg="1"/>
      <p:bldP spid="35" grpId="0"/>
      <p:bldP spid="35" grpId="1"/>
      <p:bldP spid="36" grpId="0" animBg="1"/>
      <p:bldP spid="36" grpId="1" animBg="1"/>
      <p:bldP spid="37" grpId="0"/>
      <p:bldP spid="37" grpId="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椭圆 10">
            <a:extLst>
              <a:ext uri="{FF2B5EF4-FFF2-40B4-BE49-F238E27FC236}">
                <a16:creationId xmlns:a16="http://schemas.microsoft.com/office/drawing/2014/main" id="{8E289B97-3EA5-028E-444A-8EB3690D5F5D}"/>
              </a:ext>
            </a:extLst>
          </p:cNvPr>
          <p:cNvSpPr/>
          <p:nvPr/>
        </p:nvSpPr>
        <p:spPr>
          <a:xfrm>
            <a:off x="-217832" y="-426322"/>
            <a:ext cx="2344420" cy="2344420"/>
          </a:xfrm>
          <a:prstGeom prst="ellipse">
            <a:avLst/>
          </a:prstGeom>
          <a:solidFill>
            <a:srgbClr val="A6B1C6">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lt1"/>
              </a:solidFill>
              <a:cs typeface="思源黑体 CN Normal" panose="020B0400000000000000" charset="-122"/>
            </a:endParaRPr>
          </a:p>
        </p:txBody>
      </p:sp>
      <p:grpSp>
        <p:nvGrpSpPr>
          <p:cNvPr id="12" name="组合 11">
            <a:extLst>
              <a:ext uri="{FF2B5EF4-FFF2-40B4-BE49-F238E27FC236}">
                <a16:creationId xmlns:a16="http://schemas.microsoft.com/office/drawing/2014/main" id="{D7ACDA95-F13B-2F0F-BEC1-8641B80CDE83}"/>
              </a:ext>
            </a:extLst>
          </p:cNvPr>
          <p:cNvGrpSpPr/>
          <p:nvPr/>
        </p:nvGrpSpPr>
        <p:grpSpPr>
          <a:xfrm>
            <a:off x="-121136" y="7448"/>
            <a:ext cx="12313136" cy="1198477"/>
            <a:chOff x="6121" y="1678"/>
            <a:chExt cx="19370" cy="1470"/>
          </a:xfrm>
        </p:grpSpPr>
        <p:sp>
          <p:nvSpPr>
            <p:cNvPr id="15" name="平行四边形 14">
              <a:extLst>
                <a:ext uri="{FF2B5EF4-FFF2-40B4-BE49-F238E27FC236}">
                  <a16:creationId xmlns:a16="http://schemas.microsoft.com/office/drawing/2014/main" id="{53D7386B-8F06-7F51-62BF-1D778A964F11}"/>
                </a:ext>
              </a:extLst>
            </p:cNvPr>
            <p:cNvSpPr/>
            <p:nvPr/>
          </p:nvSpPr>
          <p:spPr>
            <a:xfrm rot="16200000">
              <a:off x="7584" y="2177"/>
              <a:ext cx="1470" cy="472"/>
            </a:xfrm>
            <a:prstGeom prst="parallelogram">
              <a:avLst>
                <a:gd name="adj" fmla="val 76588"/>
              </a:avLst>
            </a:prstGeom>
            <a:solidFill>
              <a:srgbClr val="515983"/>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6" name="平行四边形 15">
              <a:extLst>
                <a:ext uri="{FF2B5EF4-FFF2-40B4-BE49-F238E27FC236}">
                  <a16:creationId xmlns:a16="http://schemas.microsoft.com/office/drawing/2014/main" id="{CA87F104-0887-07B3-BE33-5B8FEA5FD472}"/>
                </a:ext>
              </a:extLst>
            </p:cNvPr>
            <p:cNvSpPr/>
            <p:nvPr/>
          </p:nvSpPr>
          <p:spPr>
            <a:xfrm rot="20760000">
              <a:off x="6121" y="1913"/>
              <a:ext cx="2130" cy="1064"/>
            </a:xfrm>
            <a:prstGeom prst="parallelogram">
              <a:avLst/>
            </a:prstGeom>
            <a:gradFill>
              <a:gsLst>
                <a:gs pos="100000">
                  <a:srgbClr val="515983"/>
                </a:gs>
                <a:gs pos="0">
                  <a:srgbClr val="515983">
                    <a:alpha val="51000"/>
                  </a:srgbClr>
                </a:gs>
              </a:gsLst>
              <a:lin ang="162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7" name="矩形 16">
              <a:extLst>
                <a:ext uri="{FF2B5EF4-FFF2-40B4-BE49-F238E27FC236}">
                  <a16:creationId xmlns:a16="http://schemas.microsoft.com/office/drawing/2014/main" id="{1279C17D-BC90-0BD1-5AB5-AFEEE2260364}"/>
                </a:ext>
              </a:extLst>
            </p:cNvPr>
            <p:cNvSpPr/>
            <p:nvPr/>
          </p:nvSpPr>
          <p:spPr>
            <a:xfrm>
              <a:off x="8540" y="2032"/>
              <a:ext cx="16951" cy="1106"/>
            </a:xfrm>
            <a:prstGeom prst="rect">
              <a:avLst/>
            </a:prstGeom>
            <a:gradFill>
              <a:gsLst>
                <a:gs pos="100000">
                  <a:srgbClr val="5F85C3"/>
                </a:gs>
                <a:gs pos="0">
                  <a:srgbClr val="515983"/>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sp>
        <p:nvSpPr>
          <p:cNvPr id="13" name="文本框 17">
            <a:extLst>
              <a:ext uri="{FF2B5EF4-FFF2-40B4-BE49-F238E27FC236}">
                <a16:creationId xmlns:a16="http://schemas.microsoft.com/office/drawing/2014/main" id="{831A12D7-C3D3-65E0-CE7C-E92B0A1D4F10}"/>
              </a:ext>
            </a:extLst>
          </p:cNvPr>
          <p:cNvSpPr txBox="1"/>
          <p:nvPr/>
        </p:nvSpPr>
        <p:spPr>
          <a:xfrm rot="20700000">
            <a:off x="123434" y="327464"/>
            <a:ext cx="1009650" cy="645160"/>
          </a:xfrm>
          <a:prstGeom prst="rect">
            <a:avLst/>
          </a:prstGeom>
          <a:noFill/>
          <a:ln w="9525">
            <a:noFill/>
          </a:ln>
        </p:spPr>
        <p:txBody>
          <a:bodyPr wrap="square" anchor="ctr" anchorCtr="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ctr"/>
            <a:r>
              <a:rPr lang="en-US" altLang="zh-CN" sz="3600" b="1" dirty="0">
                <a:solidFill>
                  <a:schemeClr val="bg1"/>
                </a:solidFill>
                <a:latin typeface="微软雅黑" panose="020B0503020204020204" charset="-122"/>
                <a:ea typeface="微软雅黑" panose="020B0503020204020204" charset="-122"/>
                <a:cs typeface="思源黑体 CN Normal" panose="020B0400000000000000" charset="-122"/>
              </a:rPr>
              <a:t>03</a:t>
            </a:r>
          </a:p>
        </p:txBody>
      </p:sp>
      <p:sp>
        <p:nvSpPr>
          <p:cNvPr id="14" name="文本框 3">
            <a:extLst>
              <a:ext uri="{FF2B5EF4-FFF2-40B4-BE49-F238E27FC236}">
                <a16:creationId xmlns:a16="http://schemas.microsoft.com/office/drawing/2014/main" id="{0E09A78A-3AA6-34D7-38D8-A21A06EA63F9}"/>
              </a:ext>
            </a:extLst>
          </p:cNvPr>
          <p:cNvSpPr txBox="1"/>
          <p:nvPr/>
        </p:nvSpPr>
        <p:spPr>
          <a:xfrm>
            <a:off x="1416576" y="453500"/>
            <a:ext cx="4191000" cy="58477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ctr"/>
            <a:r>
              <a:rPr lang="en-US" altLang="zh-CN" sz="3200" b="1" dirty="0">
                <a:solidFill>
                  <a:schemeClr val="bg1"/>
                </a:solidFill>
                <a:latin typeface="微软雅黑" panose="020B0503020204020204" charset="-122"/>
                <a:ea typeface="微软雅黑" panose="020B0503020204020204" charset="-122"/>
                <a:cs typeface="思源黑体 CN Normal" panose="020B0400000000000000" charset="-122"/>
                <a:sym typeface="+mn-ea"/>
              </a:rPr>
              <a:t>Method</a:t>
            </a:r>
            <a:endParaRPr lang="zh-CN" altLang="en-US" sz="3200" b="1" dirty="0">
              <a:solidFill>
                <a:schemeClr val="bg1"/>
              </a:solidFill>
              <a:latin typeface="微软雅黑" panose="020B0503020204020204" charset="-122"/>
              <a:ea typeface="微软雅黑" panose="020B0503020204020204" charset="-122"/>
              <a:cs typeface="思源黑体 CN Normal" panose="020B0400000000000000" charset="-122"/>
              <a:sym typeface="+mn-ea"/>
            </a:endParaRPr>
          </a:p>
        </p:txBody>
      </p:sp>
      <p:pic>
        <p:nvPicPr>
          <p:cNvPr id="2050" name="Picture 2">
            <a:extLst>
              <a:ext uri="{FF2B5EF4-FFF2-40B4-BE49-F238E27FC236}">
                <a16:creationId xmlns:a16="http://schemas.microsoft.com/office/drawing/2014/main" id="{2DA4C3AB-DFF7-49DA-91A2-6A2C4A2D9E9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72176" y="297592"/>
            <a:ext cx="1392495" cy="867988"/>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
        <p:nvSpPr>
          <p:cNvPr id="19" name="文本框 18">
            <a:extLst>
              <a:ext uri="{FF2B5EF4-FFF2-40B4-BE49-F238E27FC236}">
                <a16:creationId xmlns:a16="http://schemas.microsoft.com/office/drawing/2014/main" id="{5AE1D9C1-28CD-44CA-B053-4A0A2D94DAF2}"/>
              </a:ext>
            </a:extLst>
          </p:cNvPr>
          <p:cNvSpPr txBox="1"/>
          <p:nvPr/>
        </p:nvSpPr>
        <p:spPr>
          <a:xfrm>
            <a:off x="821248" y="1345499"/>
            <a:ext cx="6338046" cy="369332"/>
          </a:xfrm>
          <a:prstGeom prst="rect">
            <a:avLst/>
          </a:prstGeom>
          <a:noFill/>
        </p:spPr>
        <p:txBody>
          <a:bodyPr wrap="square">
            <a:spAutoFit/>
          </a:bodyPr>
          <a:lstStyle/>
          <a:p>
            <a:r>
              <a:rPr lang="en-US" altLang="zh-CN" sz="1800" b="1" dirty="0">
                <a:latin typeface="+mn-ea"/>
                <a:cs typeface="Open Sans" panose="020B0606030504020204" pitchFamily="34" charset="0"/>
              </a:rPr>
              <a:t>Unsupervised Contrastive Learning(UCL)</a:t>
            </a:r>
          </a:p>
        </p:txBody>
      </p:sp>
      <p:grpSp>
        <p:nvGrpSpPr>
          <p:cNvPr id="6" name="组合 5">
            <a:extLst>
              <a:ext uri="{FF2B5EF4-FFF2-40B4-BE49-F238E27FC236}">
                <a16:creationId xmlns:a16="http://schemas.microsoft.com/office/drawing/2014/main" id="{58B27D1A-C543-4FCF-BD7A-035DB9FCB915}"/>
              </a:ext>
            </a:extLst>
          </p:cNvPr>
          <p:cNvGrpSpPr/>
          <p:nvPr/>
        </p:nvGrpSpPr>
        <p:grpSpPr>
          <a:xfrm>
            <a:off x="1126070" y="1920155"/>
            <a:ext cx="6180187" cy="3501011"/>
            <a:chOff x="821248" y="2206711"/>
            <a:chExt cx="6216046" cy="3395301"/>
          </a:xfrm>
        </p:grpSpPr>
        <p:pic>
          <p:nvPicPr>
            <p:cNvPr id="4" name="图片 3">
              <a:extLst>
                <a:ext uri="{FF2B5EF4-FFF2-40B4-BE49-F238E27FC236}">
                  <a16:creationId xmlns:a16="http://schemas.microsoft.com/office/drawing/2014/main" id="{B8B9119F-EA09-48FD-A13E-0C3D2A0BA4D4}"/>
                </a:ext>
              </a:extLst>
            </p:cNvPr>
            <p:cNvPicPr>
              <a:picLocks noChangeAspect="1"/>
            </p:cNvPicPr>
            <p:nvPr/>
          </p:nvPicPr>
          <p:blipFill>
            <a:blip r:embed="rId4"/>
            <a:stretch>
              <a:fillRect/>
            </a:stretch>
          </p:blipFill>
          <p:spPr>
            <a:xfrm>
              <a:off x="821248" y="2206711"/>
              <a:ext cx="5274752" cy="3395301"/>
            </a:xfrm>
            <a:prstGeom prst="rect">
              <a:avLst/>
            </a:prstGeom>
          </p:spPr>
        </p:pic>
        <p:sp>
          <p:nvSpPr>
            <p:cNvPr id="5" name="矩形 4">
              <a:extLst>
                <a:ext uri="{FF2B5EF4-FFF2-40B4-BE49-F238E27FC236}">
                  <a16:creationId xmlns:a16="http://schemas.microsoft.com/office/drawing/2014/main" id="{86147A9A-8B13-4680-8870-B67F24D0879F}"/>
                </a:ext>
              </a:extLst>
            </p:cNvPr>
            <p:cNvSpPr/>
            <p:nvPr/>
          </p:nvSpPr>
          <p:spPr>
            <a:xfrm>
              <a:off x="5692588" y="2498408"/>
              <a:ext cx="1344706" cy="290456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chemeClr val="bg1"/>
                  </a:solidFill>
                </a:ln>
                <a:solidFill>
                  <a:schemeClr val="bg1"/>
                </a:solidFill>
              </a:endParaRPr>
            </a:p>
          </p:txBody>
        </p:sp>
      </p:grpSp>
      <p:pic>
        <p:nvPicPr>
          <p:cNvPr id="8" name="图片 7">
            <a:extLst>
              <a:ext uri="{FF2B5EF4-FFF2-40B4-BE49-F238E27FC236}">
                <a16:creationId xmlns:a16="http://schemas.microsoft.com/office/drawing/2014/main" id="{39F7BB39-BEF4-4CF2-AB42-82B030BEEA8B}"/>
              </a:ext>
            </a:extLst>
          </p:cNvPr>
          <p:cNvPicPr>
            <a:picLocks noChangeAspect="1"/>
          </p:cNvPicPr>
          <p:nvPr/>
        </p:nvPicPr>
        <p:blipFill>
          <a:blip r:embed="rId5"/>
          <a:stretch>
            <a:fillRect/>
          </a:stretch>
        </p:blipFill>
        <p:spPr>
          <a:xfrm>
            <a:off x="1469685" y="5688910"/>
            <a:ext cx="3951430" cy="763587"/>
          </a:xfrm>
          <a:prstGeom prst="rect">
            <a:avLst/>
          </a:prstGeom>
        </p:spPr>
      </p:pic>
      <p:sp>
        <p:nvSpPr>
          <p:cNvPr id="25" name="文本框 24">
            <a:extLst>
              <a:ext uri="{FF2B5EF4-FFF2-40B4-BE49-F238E27FC236}">
                <a16:creationId xmlns:a16="http://schemas.microsoft.com/office/drawing/2014/main" id="{EDB0083B-C7FD-4384-BD4F-0A6DE5652BF7}"/>
              </a:ext>
            </a:extLst>
          </p:cNvPr>
          <p:cNvSpPr txBox="1"/>
          <p:nvPr/>
        </p:nvSpPr>
        <p:spPr>
          <a:xfrm>
            <a:off x="6491532" y="1350690"/>
            <a:ext cx="6338046" cy="369332"/>
          </a:xfrm>
          <a:prstGeom prst="rect">
            <a:avLst/>
          </a:prstGeom>
          <a:noFill/>
        </p:spPr>
        <p:txBody>
          <a:bodyPr wrap="square">
            <a:spAutoFit/>
          </a:bodyPr>
          <a:lstStyle/>
          <a:p>
            <a:r>
              <a:rPr lang="en-US" altLang="zh-CN" sz="1800" b="1" dirty="0">
                <a:latin typeface="+mn-ea"/>
                <a:cs typeface="Open Sans" panose="020B0606030504020204" pitchFamily="34" charset="0"/>
              </a:rPr>
              <a:t>Supervised Contrastive Learning(SCL)</a:t>
            </a:r>
          </a:p>
        </p:txBody>
      </p:sp>
      <p:cxnSp>
        <p:nvCxnSpPr>
          <p:cNvPr id="28" name="直接连接符 27">
            <a:extLst>
              <a:ext uri="{FF2B5EF4-FFF2-40B4-BE49-F238E27FC236}">
                <a16:creationId xmlns:a16="http://schemas.microsoft.com/office/drawing/2014/main" id="{5D43807C-2075-49F9-A73A-F09FE700D3B1}"/>
              </a:ext>
            </a:extLst>
          </p:cNvPr>
          <p:cNvCxnSpPr>
            <a:cxnSpLocks/>
          </p:cNvCxnSpPr>
          <p:nvPr/>
        </p:nvCxnSpPr>
        <p:spPr>
          <a:xfrm>
            <a:off x="6430962" y="1206563"/>
            <a:ext cx="0" cy="5287383"/>
          </a:xfrm>
          <a:prstGeom prst="line">
            <a:avLst/>
          </a:prstGeom>
          <a:ln w="19050">
            <a:solidFill>
              <a:schemeClr val="bg1">
                <a:lumMod val="65000"/>
              </a:schemeClr>
            </a:solidFill>
            <a:prstDash val="dashDot"/>
          </a:ln>
        </p:spPr>
        <p:style>
          <a:lnRef idx="1">
            <a:schemeClr val="dk1"/>
          </a:lnRef>
          <a:fillRef idx="0">
            <a:schemeClr val="dk1"/>
          </a:fillRef>
          <a:effectRef idx="0">
            <a:schemeClr val="dk1"/>
          </a:effectRef>
          <a:fontRef idx="minor">
            <a:schemeClr val="tx1"/>
          </a:fontRef>
        </p:style>
      </p:cxnSp>
      <p:sp>
        <p:nvSpPr>
          <p:cNvPr id="29" name="文本框 28">
            <a:extLst>
              <a:ext uri="{FF2B5EF4-FFF2-40B4-BE49-F238E27FC236}">
                <a16:creationId xmlns:a16="http://schemas.microsoft.com/office/drawing/2014/main" id="{E59A4875-D89F-4423-B3E4-FC40E8327F15}"/>
              </a:ext>
            </a:extLst>
          </p:cNvPr>
          <p:cNvSpPr txBox="1"/>
          <p:nvPr/>
        </p:nvSpPr>
        <p:spPr>
          <a:xfrm>
            <a:off x="108067" y="6504832"/>
            <a:ext cx="12083933" cy="369332"/>
          </a:xfrm>
          <a:prstGeom prst="rect">
            <a:avLst/>
          </a:prstGeom>
          <a:noFill/>
        </p:spPr>
        <p:txBody>
          <a:bodyPr wrap="square">
            <a:spAutoFit/>
          </a:bodyPr>
          <a:lstStyle/>
          <a:p>
            <a:pPr algn="l"/>
            <a:r>
              <a:rPr lang="en-US" altLang="zh-CN" sz="900" b="0" i="0" u="none" strike="noStrike" baseline="0" dirty="0">
                <a:solidFill>
                  <a:schemeClr val="bg1">
                    <a:lumMod val="50000"/>
                  </a:schemeClr>
                </a:solidFill>
                <a:latin typeface="NimbusRomNo9L-Regu"/>
              </a:rPr>
              <a:t>Gao, T.; Yao, X.; and Chen, D. 2021. </a:t>
            </a:r>
            <a:r>
              <a:rPr lang="en-US" altLang="zh-CN" sz="900" b="0" i="0" u="none" strike="noStrike" baseline="0" dirty="0" err="1">
                <a:solidFill>
                  <a:schemeClr val="bg1">
                    <a:lumMod val="50000"/>
                  </a:schemeClr>
                </a:solidFill>
                <a:latin typeface="NimbusRomNo9L-Regu"/>
              </a:rPr>
              <a:t>SimCSE</a:t>
            </a:r>
            <a:r>
              <a:rPr lang="en-US" altLang="zh-CN" sz="900" b="0" i="0" u="none" strike="noStrike" baseline="0" dirty="0">
                <a:solidFill>
                  <a:schemeClr val="bg1">
                    <a:lumMod val="50000"/>
                  </a:schemeClr>
                </a:solidFill>
                <a:latin typeface="NimbusRomNo9L-Regu"/>
              </a:rPr>
              <a:t>: Simple Contrastive Learning of Sentence Embeddings. In </a:t>
            </a:r>
            <a:r>
              <a:rPr lang="en-US" altLang="zh-CN" sz="900" b="0" i="0" u="none" strike="noStrike" baseline="0" dirty="0">
                <a:solidFill>
                  <a:schemeClr val="bg1">
                    <a:lumMod val="50000"/>
                  </a:schemeClr>
                </a:solidFill>
                <a:latin typeface="NimbusRomNo9L-ReguItal"/>
              </a:rPr>
              <a:t>Conference on Empirical Methods in Natural Language Processing</a:t>
            </a:r>
            <a:r>
              <a:rPr lang="en-US" altLang="zh-CN" sz="900" b="0" i="0" u="none" strike="noStrike" baseline="0" dirty="0">
                <a:solidFill>
                  <a:schemeClr val="bg1">
                    <a:lumMod val="50000"/>
                  </a:schemeClr>
                </a:solidFill>
                <a:latin typeface="NimbusRomNo9L-Regu"/>
              </a:rPr>
              <a:t>. </a:t>
            </a:r>
          </a:p>
          <a:p>
            <a:pPr algn="l"/>
            <a:r>
              <a:rPr lang="en-US" altLang="zh-CN" sz="900" b="0" i="0" u="none" strike="noStrike" baseline="0" dirty="0">
                <a:solidFill>
                  <a:schemeClr val="bg1">
                    <a:lumMod val="50000"/>
                  </a:schemeClr>
                </a:solidFill>
                <a:latin typeface="NimbusRomNo9L-Regu"/>
              </a:rPr>
              <a:t>Vladimir </a:t>
            </a:r>
            <a:r>
              <a:rPr lang="en-US" altLang="zh-CN" sz="900" b="0" i="0" u="none" strike="noStrike" baseline="0" dirty="0" err="1">
                <a:solidFill>
                  <a:schemeClr val="bg1">
                    <a:lumMod val="50000"/>
                  </a:schemeClr>
                </a:solidFill>
                <a:latin typeface="NimbusRomNo9L-Regu"/>
              </a:rPr>
              <a:t>Karpukhin</a:t>
            </a:r>
            <a:r>
              <a:rPr lang="en-US" altLang="zh-CN" sz="900" b="0" i="0" u="none" strike="noStrike" baseline="0" dirty="0">
                <a:solidFill>
                  <a:schemeClr val="bg1">
                    <a:lumMod val="50000"/>
                  </a:schemeClr>
                </a:solidFill>
                <a:latin typeface="NimbusRomNo9L-Regu"/>
              </a:rPr>
              <a:t>, </a:t>
            </a:r>
            <a:r>
              <a:rPr lang="en-US" altLang="zh-CN" sz="900" b="0" i="0" u="none" strike="noStrike" baseline="0" dirty="0" err="1">
                <a:solidFill>
                  <a:schemeClr val="bg1">
                    <a:lumMod val="50000"/>
                  </a:schemeClr>
                </a:solidFill>
                <a:latin typeface="NimbusRomNo9L-Regu"/>
              </a:rPr>
              <a:t>Barlas</a:t>
            </a:r>
            <a:r>
              <a:rPr lang="en-US" altLang="zh-CN" sz="900" b="0" i="0" u="none" strike="noStrike" baseline="0" dirty="0">
                <a:solidFill>
                  <a:schemeClr val="bg1">
                    <a:lumMod val="50000"/>
                  </a:schemeClr>
                </a:solidFill>
                <a:latin typeface="NimbusRomNo9L-Regu"/>
              </a:rPr>
              <a:t> </a:t>
            </a:r>
            <a:r>
              <a:rPr lang="en-US" altLang="zh-CN" sz="900" b="0" i="0" u="none" strike="noStrike" baseline="0" dirty="0" err="1">
                <a:solidFill>
                  <a:schemeClr val="bg1">
                    <a:lumMod val="50000"/>
                  </a:schemeClr>
                </a:solidFill>
                <a:latin typeface="NimbusRomNo9L-Regu"/>
              </a:rPr>
              <a:t>Oguz</a:t>
            </a:r>
            <a:r>
              <a:rPr lang="en-US" altLang="zh-CN" sz="900" b="0" i="0" u="none" strike="noStrike" baseline="0" dirty="0">
                <a:solidFill>
                  <a:schemeClr val="bg1">
                    <a:lumMod val="50000"/>
                  </a:schemeClr>
                </a:solidFill>
                <a:latin typeface="NimbusRomNo9L-Regu"/>
              </a:rPr>
              <a:t>, </a:t>
            </a:r>
            <a:r>
              <a:rPr lang="en-US" altLang="zh-CN" sz="900" b="0" i="0" u="none" strike="noStrike" baseline="0" dirty="0" err="1">
                <a:solidFill>
                  <a:schemeClr val="bg1">
                    <a:lumMod val="50000"/>
                  </a:schemeClr>
                </a:solidFill>
                <a:latin typeface="NimbusRomNo9L-Regu"/>
              </a:rPr>
              <a:t>Sewon</a:t>
            </a:r>
            <a:r>
              <a:rPr lang="en-US" altLang="zh-CN" sz="900" b="0" i="0" u="none" strike="noStrike" baseline="0" dirty="0">
                <a:solidFill>
                  <a:schemeClr val="bg1">
                    <a:lumMod val="50000"/>
                  </a:schemeClr>
                </a:solidFill>
                <a:latin typeface="NimbusRomNo9L-Regu"/>
              </a:rPr>
              <a:t> Min</a:t>
            </a:r>
            <a:r>
              <a:rPr lang="en-US" altLang="zh-CN" sz="900" dirty="0">
                <a:solidFill>
                  <a:schemeClr val="bg1">
                    <a:lumMod val="50000"/>
                  </a:schemeClr>
                </a:solidFill>
                <a:latin typeface="NimbusRomNo9L-Regu"/>
              </a:rPr>
              <a:t>;</a:t>
            </a:r>
            <a:r>
              <a:rPr lang="zh-CN" altLang="en-US" sz="900" dirty="0">
                <a:solidFill>
                  <a:schemeClr val="bg1">
                    <a:lumMod val="50000"/>
                  </a:schemeClr>
                </a:solidFill>
                <a:latin typeface="NimbusRomNo9L-Regu"/>
              </a:rPr>
              <a:t> </a:t>
            </a:r>
            <a:r>
              <a:rPr lang="en-US" altLang="zh-CN" sz="900" dirty="0">
                <a:solidFill>
                  <a:schemeClr val="bg1">
                    <a:lumMod val="50000"/>
                  </a:schemeClr>
                </a:solidFill>
                <a:latin typeface="NimbusRomNo9L-Regu"/>
              </a:rPr>
              <a:t>et al</a:t>
            </a:r>
            <a:r>
              <a:rPr lang="en-US" altLang="zh-CN" sz="900" b="0" i="0" u="none" strike="noStrike" baseline="0" dirty="0">
                <a:solidFill>
                  <a:schemeClr val="bg1">
                    <a:lumMod val="50000"/>
                  </a:schemeClr>
                </a:solidFill>
                <a:latin typeface="NimbusRomNo9L-Regu"/>
              </a:rPr>
              <a:t>. 2020. Dense passage retrieval for open domain</a:t>
            </a:r>
            <a:r>
              <a:rPr lang="en-US" altLang="zh-CN" sz="900" dirty="0">
                <a:solidFill>
                  <a:schemeClr val="bg1">
                    <a:lumMod val="50000"/>
                  </a:schemeClr>
                </a:solidFill>
                <a:latin typeface="NimbusRomNo9L-Regu"/>
              </a:rPr>
              <a:t> </a:t>
            </a:r>
            <a:r>
              <a:rPr lang="en-US" altLang="zh-CN" sz="900" b="0" i="0" u="none" strike="noStrike" baseline="0" dirty="0">
                <a:solidFill>
                  <a:schemeClr val="bg1">
                    <a:lumMod val="50000"/>
                  </a:schemeClr>
                </a:solidFill>
                <a:latin typeface="NimbusRomNo9L-Regu"/>
              </a:rPr>
              <a:t>question answering. In Proceedings of the Conference on Empirical Methods in Natural Language Processing, </a:t>
            </a:r>
            <a:endParaRPr lang="zh-CN" altLang="en-US" sz="900" dirty="0">
              <a:solidFill>
                <a:schemeClr val="bg1">
                  <a:lumMod val="50000"/>
                </a:schemeClr>
              </a:solidFill>
            </a:endParaRPr>
          </a:p>
        </p:txBody>
      </p:sp>
      <p:pic>
        <p:nvPicPr>
          <p:cNvPr id="31" name="图片 30">
            <a:extLst>
              <a:ext uri="{FF2B5EF4-FFF2-40B4-BE49-F238E27FC236}">
                <a16:creationId xmlns:a16="http://schemas.microsoft.com/office/drawing/2014/main" id="{C791C1A2-84F0-49AA-8DA2-7DF732D0B670}"/>
              </a:ext>
            </a:extLst>
          </p:cNvPr>
          <p:cNvPicPr>
            <a:picLocks noChangeAspect="1"/>
          </p:cNvPicPr>
          <p:nvPr/>
        </p:nvPicPr>
        <p:blipFill>
          <a:blip r:embed="rId6"/>
          <a:stretch>
            <a:fillRect/>
          </a:stretch>
        </p:blipFill>
        <p:spPr>
          <a:xfrm>
            <a:off x="6697042" y="1918098"/>
            <a:ext cx="4378835" cy="3503068"/>
          </a:xfrm>
          <a:prstGeom prst="rect">
            <a:avLst/>
          </a:prstGeom>
        </p:spPr>
      </p:pic>
      <p:grpSp>
        <p:nvGrpSpPr>
          <p:cNvPr id="37" name="组合 36">
            <a:extLst>
              <a:ext uri="{FF2B5EF4-FFF2-40B4-BE49-F238E27FC236}">
                <a16:creationId xmlns:a16="http://schemas.microsoft.com/office/drawing/2014/main" id="{1B25BDE4-5CEC-4AD5-BDAF-3CD3C9DA41C2}"/>
              </a:ext>
            </a:extLst>
          </p:cNvPr>
          <p:cNvGrpSpPr/>
          <p:nvPr/>
        </p:nvGrpSpPr>
        <p:grpSpPr>
          <a:xfrm>
            <a:off x="7181066" y="5649168"/>
            <a:ext cx="3833806" cy="843070"/>
            <a:chOff x="7128109" y="5624433"/>
            <a:chExt cx="3833806" cy="843070"/>
          </a:xfrm>
        </p:grpSpPr>
        <p:pic>
          <p:nvPicPr>
            <p:cNvPr id="33" name="图片 32">
              <a:extLst>
                <a:ext uri="{FF2B5EF4-FFF2-40B4-BE49-F238E27FC236}">
                  <a16:creationId xmlns:a16="http://schemas.microsoft.com/office/drawing/2014/main" id="{036A1C9B-F30F-4F43-8D7D-FF27AA984C7B}"/>
                </a:ext>
              </a:extLst>
            </p:cNvPr>
            <p:cNvPicPr>
              <a:picLocks noChangeAspect="1"/>
            </p:cNvPicPr>
            <p:nvPr/>
          </p:nvPicPr>
          <p:blipFill>
            <a:blip r:embed="rId7"/>
            <a:stretch>
              <a:fillRect/>
            </a:stretch>
          </p:blipFill>
          <p:spPr>
            <a:xfrm>
              <a:off x="7693397" y="5624433"/>
              <a:ext cx="3268518" cy="843070"/>
            </a:xfrm>
            <a:prstGeom prst="rect">
              <a:avLst/>
            </a:prstGeom>
          </p:spPr>
        </p:pic>
        <p:pic>
          <p:nvPicPr>
            <p:cNvPr id="36" name="图片 35">
              <a:extLst>
                <a:ext uri="{FF2B5EF4-FFF2-40B4-BE49-F238E27FC236}">
                  <a16:creationId xmlns:a16="http://schemas.microsoft.com/office/drawing/2014/main" id="{00D453CF-66D3-4635-807B-64D880D6D8CD}"/>
                </a:ext>
              </a:extLst>
            </p:cNvPr>
            <p:cNvPicPr>
              <a:picLocks noChangeAspect="1"/>
            </p:cNvPicPr>
            <p:nvPr/>
          </p:nvPicPr>
          <p:blipFill>
            <a:blip r:embed="rId8"/>
            <a:stretch>
              <a:fillRect/>
            </a:stretch>
          </p:blipFill>
          <p:spPr>
            <a:xfrm>
              <a:off x="7128109" y="5817916"/>
              <a:ext cx="557202" cy="468050"/>
            </a:xfrm>
            <a:prstGeom prst="rect">
              <a:avLst/>
            </a:prstGeom>
          </p:spPr>
        </p:pic>
      </p:grpSp>
      <p:sp>
        <p:nvSpPr>
          <p:cNvPr id="22" name="矩形 21">
            <a:extLst>
              <a:ext uri="{FF2B5EF4-FFF2-40B4-BE49-F238E27FC236}">
                <a16:creationId xmlns:a16="http://schemas.microsoft.com/office/drawing/2014/main" id="{721B15F7-FF04-4997-AC7C-CBA834A34A57}"/>
              </a:ext>
            </a:extLst>
          </p:cNvPr>
          <p:cNvSpPr/>
          <p:nvPr/>
        </p:nvSpPr>
        <p:spPr>
          <a:xfrm>
            <a:off x="3795819" y="5717831"/>
            <a:ext cx="557106" cy="29244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文本框 22">
            <a:extLst>
              <a:ext uri="{FF2B5EF4-FFF2-40B4-BE49-F238E27FC236}">
                <a16:creationId xmlns:a16="http://schemas.microsoft.com/office/drawing/2014/main" id="{1A5C52D8-4342-4A4C-9CDD-45555E1CA513}"/>
              </a:ext>
            </a:extLst>
          </p:cNvPr>
          <p:cNvSpPr txBox="1"/>
          <p:nvPr/>
        </p:nvSpPr>
        <p:spPr>
          <a:xfrm>
            <a:off x="1934001" y="5416539"/>
            <a:ext cx="4280741" cy="276999"/>
          </a:xfrm>
          <a:prstGeom prst="rect">
            <a:avLst/>
          </a:prstGeom>
          <a:noFill/>
        </p:spPr>
        <p:txBody>
          <a:bodyPr wrap="square">
            <a:spAutoFit/>
          </a:bodyPr>
          <a:lstStyle/>
          <a:p>
            <a:pPr algn="ctr"/>
            <a:r>
              <a:rPr lang="en-US" altLang="zh-CN" sz="1200" b="1" dirty="0">
                <a:solidFill>
                  <a:srgbClr val="FF0000"/>
                </a:solidFill>
              </a:rPr>
              <a:t> positive samples of a particular sentence through dropout</a:t>
            </a:r>
            <a:endParaRPr lang="zh-CN" altLang="en-US" sz="1200" dirty="0">
              <a:solidFill>
                <a:srgbClr val="FF0000"/>
              </a:solidFill>
            </a:endParaRPr>
          </a:p>
        </p:txBody>
      </p:sp>
      <p:sp>
        <p:nvSpPr>
          <p:cNvPr id="26" name="矩形 25">
            <a:extLst>
              <a:ext uri="{FF2B5EF4-FFF2-40B4-BE49-F238E27FC236}">
                <a16:creationId xmlns:a16="http://schemas.microsoft.com/office/drawing/2014/main" id="{B441C867-7365-4641-92C5-A9A3BA1D5304}"/>
              </a:ext>
            </a:extLst>
          </p:cNvPr>
          <p:cNvSpPr/>
          <p:nvPr/>
        </p:nvSpPr>
        <p:spPr>
          <a:xfrm>
            <a:off x="4131521" y="6096832"/>
            <a:ext cx="557106" cy="29244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文本框 26">
            <a:extLst>
              <a:ext uri="{FF2B5EF4-FFF2-40B4-BE49-F238E27FC236}">
                <a16:creationId xmlns:a16="http://schemas.microsoft.com/office/drawing/2014/main" id="{FAAE66B9-7DA3-4342-BA4B-02CDEE75B048}"/>
              </a:ext>
            </a:extLst>
          </p:cNvPr>
          <p:cNvSpPr txBox="1"/>
          <p:nvPr/>
        </p:nvSpPr>
        <p:spPr>
          <a:xfrm>
            <a:off x="1683741" y="5425330"/>
            <a:ext cx="4781260" cy="276999"/>
          </a:xfrm>
          <a:prstGeom prst="rect">
            <a:avLst/>
          </a:prstGeom>
          <a:noFill/>
        </p:spPr>
        <p:txBody>
          <a:bodyPr wrap="square">
            <a:spAutoFit/>
          </a:bodyPr>
          <a:lstStyle/>
          <a:p>
            <a:pPr algn="ctr"/>
            <a:r>
              <a:rPr lang="en-US" altLang="zh-CN" sz="1200" b="1" dirty="0">
                <a:solidFill>
                  <a:srgbClr val="FF0000"/>
                </a:solidFill>
              </a:rPr>
              <a:t> current sample pair with other samples within same batch</a:t>
            </a:r>
            <a:endParaRPr lang="zh-CN" altLang="en-US" sz="1200" dirty="0">
              <a:solidFill>
                <a:srgbClr val="FF0000"/>
              </a:solidFill>
            </a:endParaRPr>
          </a:p>
        </p:txBody>
      </p:sp>
      <p:sp>
        <p:nvSpPr>
          <p:cNvPr id="30" name="矩形 29">
            <a:extLst>
              <a:ext uri="{FF2B5EF4-FFF2-40B4-BE49-F238E27FC236}">
                <a16:creationId xmlns:a16="http://schemas.microsoft.com/office/drawing/2014/main" id="{B7C7AB26-A41B-4E52-9E47-053588779A78}"/>
              </a:ext>
            </a:extLst>
          </p:cNvPr>
          <p:cNvSpPr/>
          <p:nvPr/>
        </p:nvSpPr>
        <p:spPr>
          <a:xfrm>
            <a:off x="9486900" y="5649168"/>
            <a:ext cx="517142" cy="265857"/>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文本框 31">
            <a:extLst>
              <a:ext uri="{FF2B5EF4-FFF2-40B4-BE49-F238E27FC236}">
                <a16:creationId xmlns:a16="http://schemas.microsoft.com/office/drawing/2014/main" id="{21EB8985-528E-46B8-BBE7-DC9C4F9DF1BA}"/>
              </a:ext>
            </a:extLst>
          </p:cNvPr>
          <p:cNvSpPr txBox="1"/>
          <p:nvPr/>
        </p:nvSpPr>
        <p:spPr>
          <a:xfrm>
            <a:off x="8172272" y="5365872"/>
            <a:ext cx="3146398" cy="276999"/>
          </a:xfrm>
          <a:prstGeom prst="rect">
            <a:avLst/>
          </a:prstGeom>
          <a:noFill/>
        </p:spPr>
        <p:txBody>
          <a:bodyPr wrap="square">
            <a:spAutoFit/>
          </a:bodyPr>
          <a:lstStyle/>
          <a:p>
            <a:pPr algn="ctr"/>
            <a:r>
              <a:rPr lang="en-US" altLang="zh-CN" sz="1200" b="1" dirty="0">
                <a:solidFill>
                  <a:srgbClr val="FF0000"/>
                </a:solidFill>
              </a:rPr>
              <a:t>Query and its relevant(positive) passage</a:t>
            </a:r>
            <a:endParaRPr lang="zh-CN" altLang="en-US" sz="1200" dirty="0">
              <a:solidFill>
                <a:srgbClr val="FF0000"/>
              </a:solidFill>
            </a:endParaRPr>
          </a:p>
        </p:txBody>
      </p:sp>
      <p:sp>
        <p:nvSpPr>
          <p:cNvPr id="34" name="矩形 33">
            <a:extLst>
              <a:ext uri="{FF2B5EF4-FFF2-40B4-BE49-F238E27FC236}">
                <a16:creationId xmlns:a16="http://schemas.microsoft.com/office/drawing/2014/main" id="{72EE62AA-E14B-4351-ABCB-68B75B6CA4CA}"/>
              </a:ext>
            </a:extLst>
          </p:cNvPr>
          <p:cNvSpPr/>
          <p:nvPr/>
        </p:nvSpPr>
        <p:spPr>
          <a:xfrm>
            <a:off x="10391058" y="6042668"/>
            <a:ext cx="623814" cy="265857"/>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文本框 34">
            <a:extLst>
              <a:ext uri="{FF2B5EF4-FFF2-40B4-BE49-F238E27FC236}">
                <a16:creationId xmlns:a16="http://schemas.microsoft.com/office/drawing/2014/main" id="{3C3827E5-B4E4-48E5-8E6F-06BB73B5587B}"/>
              </a:ext>
            </a:extLst>
          </p:cNvPr>
          <p:cNvSpPr txBox="1"/>
          <p:nvPr/>
        </p:nvSpPr>
        <p:spPr>
          <a:xfrm>
            <a:off x="9129766" y="6364156"/>
            <a:ext cx="3146398" cy="276999"/>
          </a:xfrm>
          <a:prstGeom prst="rect">
            <a:avLst/>
          </a:prstGeom>
          <a:noFill/>
        </p:spPr>
        <p:txBody>
          <a:bodyPr wrap="square">
            <a:spAutoFit/>
          </a:bodyPr>
          <a:lstStyle/>
          <a:p>
            <a:pPr algn="ctr"/>
            <a:r>
              <a:rPr lang="en-US" altLang="zh-CN" sz="1200" b="1" dirty="0">
                <a:solidFill>
                  <a:srgbClr val="FF0000"/>
                </a:solidFill>
              </a:rPr>
              <a:t>Query and in-batch negative passages</a:t>
            </a:r>
            <a:endParaRPr lang="zh-CN" altLang="en-US" sz="1200" dirty="0">
              <a:solidFill>
                <a:srgbClr val="FF0000"/>
              </a:solidFill>
            </a:endParaRPr>
          </a:p>
        </p:txBody>
      </p:sp>
    </p:spTree>
    <p:extLst>
      <p:ext uri="{BB962C8B-B14F-4D97-AF65-F5344CB8AC3E}">
        <p14:creationId xmlns:p14="http://schemas.microsoft.com/office/powerpoint/2010/main" val="35754069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barn(inVertical)">
                                      <p:cBhvr>
                                        <p:cTn id="7" dur="500"/>
                                        <p:tgtEl>
                                          <p:spTgt spid="22"/>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23"/>
                                        </p:tgtEl>
                                        <p:attrNameLst>
                                          <p:attrName>style.visibility</p:attrName>
                                        </p:attrNameLst>
                                      </p:cBhvr>
                                      <p:to>
                                        <p:strVal val="visible"/>
                                      </p:to>
                                    </p:set>
                                    <p:animEffect transition="in" filter="barn(inVertical)">
                                      <p:cBhvr>
                                        <p:cTn id="10" dur="500"/>
                                        <p:tgtEl>
                                          <p:spTgt spid="23"/>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1" nodeType="clickEffect">
                                  <p:stCondLst>
                                    <p:cond delay="0"/>
                                  </p:stCondLst>
                                  <p:childTnLst>
                                    <p:set>
                                      <p:cBhvr>
                                        <p:cTn id="14" dur="1" fill="hold">
                                          <p:stCondLst>
                                            <p:cond delay="0"/>
                                          </p:stCondLst>
                                        </p:cTn>
                                        <p:tgtEl>
                                          <p:spTgt spid="22"/>
                                        </p:tgtEl>
                                        <p:attrNameLst>
                                          <p:attrName>style.visibility</p:attrName>
                                        </p:attrNameLst>
                                      </p:cBhvr>
                                      <p:to>
                                        <p:strVal val="hidden"/>
                                      </p:to>
                                    </p:set>
                                  </p:childTnLst>
                                </p:cTn>
                              </p:par>
                              <p:par>
                                <p:cTn id="15" presetID="1" presetClass="exit" presetSubtype="0" fill="hold" grpId="1" nodeType="withEffect">
                                  <p:stCondLst>
                                    <p:cond delay="0"/>
                                  </p:stCondLst>
                                  <p:childTnLst>
                                    <p:set>
                                      <p:cBhvr>
                                        <p:cTn id="16" dur="1" fill="hold">
                                          <p:stCondLst>
                                            <p:cond delay="0"/>
                                          </p:stCondLst>
                                        </p:cTn>
                                        <p:tgtEl>
                                          <p:spTgt spid="23"/>
                                        </p:tgtEl>
                                        <p:attrNameLst>
                                          <p:attrName>style.visibility</p:attrName>
                                        </p:attrNameLst>
                                      </p:cBhvr>
                                      <p:to>
                                        <p:strVal val="hidden"/>
                                      </p:to>
                                    </p:set>
                                  </p:childTnLst>
                                </p:cTn>
                              </p:par>
                            </p:childTnLst>
                          </p:cTn>
                        </p:par>
                      </p:childTnLst>
                    </p:cTn>
                  </p:par>
                  <p:par>
                    <p:cTn id="17" fill="hold">
                      <p:stCondLst>
                        <p:cond delay="indefinite"/>
                      </p:stCondLst>
                      <p:childTnLst>
                        <p:par>
                          <p:cTn id="18" fill="hold">
                            <p:stCondLst>
                              <p:cond delay="0"/>
                            </p:stCondLst>
                            <p:childTnLst>
                              <p:par>
                                <p:cTn id="19" presetID="16" presetClass="entr" presetSubtype="21" fill="hold" grpId="0" nodeType="clickEffect">
                                  <p:stCondLst>
                                    <p:cond delay="0"/>
                                  </p:stCondLst>
                                  <p:childTnLst>
                                    <p:set>
                                      <p:cBhvr>
                                        <p:cTn id="20" dur="1" fill="hold">
                                          <p:stCondLst>
                                            <p:cond delay="0"/>
                                          </p:stCondLst>
                                        </p:cTn>
                                        <p:tgtEl>
                                          <p:spTgt spid="26"/>
                                        </p:tgtEl>
                                        <p:attrNameLst>
                                          <p:attrName>style.visibility</p:attrName>
                                        </p:attrNameLst>
                                      </p:cBhvr>
                                      <p:to>
                                        <p:strVal val="visible"/>
                                      </p:to>
                                    </p:set>
                                    <p:animEffect transition="in" filter="barn(inVertical)">
                                      <p:cBhvr>
                                        <p:cTn id="21" dur="500"/>
                                        <p:tgtEl>
                                          <p:spTgt spid="26"/>
                                        </p:tgtEl>
                                      </p:cBhvr>
                                    </p:animEffect>
                                  </p:childTnLst>
                                </p:cTn>
                              </p:par>
                              <p:par>
                                <p:cTn id="22" presetID="16" presetClass="entr" presetSubtype="21" fill="hold" grpId="0" nodeType="withEffect">
                                  <p:stCondLst>
                                    <p:cond delay="0"/>
                                  </p:stCondLst>
                                  <p:childTnLst>
                                    <p:set>
                                      <p:cBhvr>
                                        <p:cTn id="23" dur="1" fill="hold">
                                          <p:stCondLst>
                                            <p:cond delay="0"/>
                                          </p:stCondLst>
                                        </p:cTn>
                                        <p:tgtEl>
                                          <p:spTgt spid="27"/>
                                        </p:tgtEl>
                                        <p:attrNameLst>
                                          <p:attrName>style.visibility</p:attrName>
                                        </p:attrNameLst>
                                      </p:cBhvr>
                                      <p:to>
                                        <p:strVal val="visible"/>
                                      </p:to>
                                    </p:set>
                                    <p:animEffect transition="in" filter="barn(inVertical)">
                                      <p:cBhvr>
                                        <p:cTn id="24" dur="500"/>
                                        <p:tgtEl>
                                          <p:spTgt spid="27"/>
                                        </p:tgtEl>
                                      </p:cBhvr>
                                    </p:animEffect>
                                  </p:childTnLst>
                                </p:cTn>
                              </p:par>
                            </p:childTnLst>
                          </p:cTn>
                        </p:par>
                      </p:childTnLst>
                    </p:cTn>
                  </p:par>
                  <p:par>
                    <p:cTn id="25" fill="hold">
                      <p:stCondLst>
                        <p:cond delay="indefinite"/>
                      </p:stCondLst>
                      <p:childTnLst>
                        <p:par>
                          <p:cTn id="26" fill="hold">
                            <p:stCondLst>
                              <p:cond delay="0"/>
                            </p:stCondLst>
                            <p:childTnLst>
                              <p:par>
                                <p:cTn id="27" presetID="1" presetClass="exit" presetSubtype="0" fill="hold" grpId="1" nodeType="clickEffect">
                                  <p:stCondLst>
                                    <p:cond delay="0"/>
                                  </p:stCondLst>
                                  <p:childTnLst>
                                    <p:set>
                                      <p:cBhvr>
                                        <p:cTn id="28" dur="1" fill="hold">
                                          <p:stCondLst>
                                            <p:cond delay="0"/>
                                          </p:stCondLst>
                                        </p:cTn>
                                        <p:tgtEl>
                                          <p:spTgt spid="26"/>
                                        </p:tgtEl>
                                        <p:attrNameLst>
                                          <p:attrName>style.visibility</p:attrName>
                                        </p:attrNameLst>
                                      </p:cBhvr>
                                      <p:to>
                                        <p:strVal val="hidden"/>
                                      </p:to>
                                    </p:set>
                                  </p:childTnLst>
                                </p:cTn>
                              </p:par>
                              <p:par>
                                <p:cTn id="29" presetID="1" presetClass="exit" presetSubtype="0" fill="hold" grpId="1" nodeType="withEffect">
                                  <p:stCondLst>
                                    <p:cond delay="0"/>
                                  </p:stCondLst>
                                  <p:childTnLst>
                                    <p:set>
                                      <p:cBhvr>
                                        <p:cTn id="30" dur="1" fill="hold">
                                          <p:stCondLst>
                                            <p:cond delay="0"/>
                                          </p:stCondLst>
                                        </p:cTn>
                                        <p:tgtEl>
                                          <p:spTgt spid="27"/>
                                        </p:tgtEl>
                                        <p:attrNameLst>
                                          <p:attrName>style.visibility</p:attrName>
                                        </p:attrNameLst>
                                      </p:cBhvr>
                                      <p:to>
                                        <p:strVal val="hidden"/>
                                      </p:to>
                                    </p:set>
                                  </p:childTnLst>
                                </p:cTn>
                              </p:par>
                            </p:childTnLst>
                          </p:cTn>
                        </p:par>
                      </p:childTnLst>
                    </p:cTn>
                  </p:par>
                  <p:par>
                    <p:cTn id="31" fill="hold">
                      <p:stCondLst>
                        <p:cond delay="indefinite"/>
                      </p:stCondLst>
                      <p:childTnLst>
                        <p:par>
                          <p:cTn id="32" fill="hold">
                            <p:stCondLst>
                              <p:cond delay="0"/>
                            </p:stCondLst>
                            <p:childTnLst>
                              <p:par>
                                <p:cTn id="33" presetID="16" presetClass="entr" presetSubtype="21" fill="hold" grpId="0" nodeType="clickEffect">
                                  <p:stCondLst>
                                    <p:cond delay="0"/>
                                  </p:stCondLst>
                                  <p:childTnLst>
                                    <p:set>
                                      <p:cBhvr>
                                        <p:cTn id="34" dur="1" fill="hold">
                                          <p:stCondLst>
                                            <p:cond delay="0"/>
                                          </p:stCondLst>
                                        </p:cTn>
                                        <p:tgtEl>
                                          <p:spTgt spid="30"/>
                                        </p:tgtEl>
                                        <p:attrNameLst>
                                          <p:attrName>style.visibility</p:attrName>
                                        </p:attrNameLst>
                                      </p:cBhvr>
                                      <p:to>
                                        <p:strVal val="visible"/>
                                      </p:to>
                                    </p:set>
                                    <p:animEffect transition="in" filter="barn(inVertical)">
                                      <p:cBhvr>
                                        <p:cTn id="35" dur="500"/>
                                        <p:tgtEl>
                                          <p:spTgt spid="30"/>
                                        </p:tgtEl>
                                      </p:cBhvr>
                                    </p:animEffect>
                                  </p:childTnLst>
                                </p:cTn>
                              </p:par>
                              <p:par>
                                <p:cTn id="36" presetID="16" presetClass="entr" presetSubtype="21" fill="hold" grpId="0" nodeType="withEffect">
                                  <p:stCondLst>
                                    <p:cond delay="0"/>
                                  </p:stCondLst>
                                  <p:childTnLst>
                                    <p:set>
                                      <p:cBhvr>
                                        <p:cTn id="37" dur="1" fill="hold">
                                          <p:stCondLst>
                                            <p:cond delay="0"/>
                                          </p:stCondLst>
                                        </p:cTn>
                                        <p:tgtEl>
                                          <p:spTgt spid="32"/>
                                        </p:tgtEl>
                                        <p:attrNameLst>
                                          <p:attrName>style.visibility</p:attrName>
                                        </p:attrNameLst>
                                      </p:cBhvr>
                                      <p:to>
                                        <p:strVal val="visible"/>
                                      </p:to>
                                    </p:set>
                                    <p:animEffect transition="in" filter="barn(inVertical)">
                                      <p:cBhvr>
                                        <p:cTn id="38" dur="500"/>
                                        <p:tgtEl>
                                          <p:spTgt spid="32"/>
                                        </p:tgtEl>
                                      </p:cBhvr>
                                    </p:animEffect>
                                  </p:childTnLst>
                                </p:cTn>
                              </p:par>
                            </p:childTnLst>
                          </p:cTn>
                        </p:par>
                      </p:childTnLst>
                    </p:cTn>
                  </p:par>
                  <p:par>
                    <p:cTn id="39" fill="hold">
                      <p:stCondLst>
                        <p:cond delay="indefinite"/>
                      </p:stCondLst>
                      <p:childTnLst>
                        <p:par>
                          <p:cTn id="40" fill="hold">
                            <p:stCondLst>
                              <p:cond delay="0"/>
                            </p:stCondLst>
                            <p:childTnLst>
                              <p:par>
                                <p:cTn id="41" presetID="1" presetClass="exit" presetSubtype="0" fill="hold" grpId="1" nodeType="clickEffect">
                                  <p:stCondLst>
                                    <p:cond delay="0"/>
                                  </p:stCondLst>
                                  <p:childTnLst>
                                    <p:set>
                                      <p:cBhvr>
                                        <p:cTn id="42" dur="1" fill="hold">
                                          <p:stCondLst>
                                            <p:cond delay="0"/>
                                          </p:stCondLst>
                                        </p:cTn>
                                        <p:tgtEl>
                                          <p:spTgt spid="30"/>
                                        </p:tgtEl>
                                        <p:attrNameLst>
                                          <p:attrName>style.visibility</p:attrName>
                                        </p:attrNameLst>
                                      </p:cBhvr>
                                      <p:to>
                                        <p:strVal val="hidden"/>
                                      </p:to>
                                    </p:set>
                                  </p:childTnLst>
                                </p:cTn>
                              </p:par>
                              <p:par>
                                <p:cTn id="43" presetID="1" presetClass="exit" presetSubtype="0" fill="hold" grpId="1" nodeType="withEffect">
                                  <p:stCondLst>
                                    <p:cond delay="0"/>
                                  </p:stCondLst>
                                  <p:childTnLst>
                                    <p:set>
                                      <p:cBhvr>
                                        <p:cTn id="44" dur="1" fill="hold">
                                          <p:stCondLst>
                                            <p:cond delay="0"/>
                                          </p:stCondLst>
                                        </p:cTn>
                                        <p:tgtEl>
                                          <p:spTgt spid="32"/>
                                        </p:tgtEl>
                                        <p:attrNameLst>
                                          <p:attrName>style.visibility</p:attrName>
                                        </p:attrNameLst>
                                      </p:cBhvr>
                                      <p:to>
                                        <p:strVal val="hidden"/>
                                      </p:to>
                                    </p:set>
                                  </p:childTnLst>
                                </p:cTn>
                              </p:par>
                            </p:childTnLst>
                          </p:cTn>
                        </p:par>
                      </p:childTnLst>
                    </p:cTn>
                  </p:par>
                  <p:par>
                    <p:cTn id="45" fill="hold">
                      <p:stCondLst>
                        <p:cond delay="indefinite"/>
                      </p:stCondLst>
                      <p:childTnLst>
                        <p:par>
                          <p:cTn id="46" fill="hold">
                            <p:stCondLst>
                              <p:cond delay="0"/>
                            </p:stCondLst>
                            <p:childTnLst>
                              <p:par>
                                <p:cTn id="47" presetID="16" presetClass="entr" presetSubtype="21" fill="hold" grpId="0" nodeType="clickEffect">
                                  <p:stCondLst>
                                    <p:cond delay="0"/>
                                  </p:stCondLst>
                                  <p:childTnLst>
                                    <p:set>
                                      <p:cBhvr>
                                        <p:cTn id="48" dur="1" fill="hold">
                                          <p:stCondLst>
                                            <p:cond delay="0"/>
                                          </p:stCondLst>
                                        </p:cTn>
                                        <p:tgtEl>
                                          <p:spTgt spid="34"/>
                                        </p:tgtEl>
                                        <p:attrNameLst>
                                          <p:attrName>style.visibility</p:attrName>
                                        </p:attrNameLst>
                                      </p:cBhvr>
                                      <p:to>
                                        <p:strVal val="visible"/>
                                      </p:to>
                                    </p:set>
                                    <p:animEffect transition="in" filter="barn(inVertical)">
                                      <p:cBhvr>
                                        <p:cTn id="49" dur="500"/>
                                        <p:tgtEl>
                                          <p:spTgt spid="34"/>
                                        </p:tgtEl>
                                      </p:cBhvr>
                                    </p:animEffect>
                                  </p:childTnLst>
                                </p:cTn>
                              </p:par>
                              <p:par>
                                <p:cTn id="50" presetID="16" presetClass="entr" presetSubtype="21" fill="hold" grpId="0" nodeType="withEffect">
                                  <p:stCondLst>
                                    <p:cond delay="0"/>
                                  </p:stCondLst>
                                  <p:childTnLst>
                                    <p:set>
                                      <p:cBhvr>
                                        <p:cTn id="51" dur="1" fill="hold">
                                          <p:stCondLst>
                                            <p:cond delay="0"/>
                                          </p:stCondLst>
                                        </p:cTn>
                                        <p:tgtEl>
                                          <p:spTgt spid="35"/>
                                        </p:tgtEl>
                                        <p:attrNameLst>
                                          <p:attrName>style.visibility</p:attrName>
                                        </p:attrNameLst>
                                      </p:cBhvr>
                                      <p:to>
                                        <p:strVal val="visible"/>
                                      </p:to>
                                    </p:set>
                                    <p:animEffect transition="in" filter="barn(inVertical)">
                                      <p:cBhvr>
                                        <p:cTn id="52" dur="500"/>
                                        <p:tgtEl>
                                          <p:spTgt spid="35"/>
                                        </p:tgtEl>
                                      </p:cBhvr>
                                    </p:animEffect>
                                  </p:childTnLst>
                                </p:cTn>
                              </p:par>
                            </p:childTnLst>
                          </p:cTn>
                        </p:par>
                      </p:childTnLst>
                    </p:cTn>
                  </p:par>
                  <p:par>
                    <p:cTn id="53" fill="hold">
                      <p:stCondLst>
                        <p:cond delay="indefinite"/>
                      </p:stCondLst>
                      <p:childTnLst>
                        <p:par>
                          <p:cTn id="54" fill="hold">
                            <p:stCondLst>
                              <p:cond delay="0"/>
                            </p:stCondLst>
                            <p:childTnLst>
                              <p:par>
                                <p:cTn id="55" presetID="1" presetClass="exit" presetSubtype="0" fill="hold" grpId="1" nodeType="clickEffect">
                                  <p:stCondLst>
                                    <p:cond delay="0"/>
                                  </p:stCondLst>
                                  <p:childTnLst>
                                    <p:set>
                                      <p:cBhvr>
                                        <p:cTn id="56" dur="1" fill="hold">
                                          <p:stCondLst>
                                            <p:cond delay="0"/>
                                          </p:stCondLst>
                                        </p:cTn>
                                        <p:tgtEl>
                                          <p:spTgt spid="34"/>
                                        </p:tgtEl>
                                        <p:attrNameLst>
                                          <p:attrName>style.visibility</p:attrName>
                                        </p:attrNameLst>
                                      </p:cBhvr>
                                      <p:to>
                                        <p:strVal val="hidden"/>
                                      </p:to>
                                    </p:set>
                                  </p:childTnLst>
                                </p:cTn>
                              </p:par>
                              <p:par>
                                <p:cTn id="57" presetID="1" presetClass="exit" presetSubtype="0" fill="hold" grpId="1" nodeType="withEffect">
                                  <p:stCondLst>
                                    <p:cond delay="0"/>
                                  </p:stCondLst>
                                  <p:childTnLst>
                                    <p:set>
                                      <p:cBhvr>
                                        <p:cTn id="58" dur="1" fill="hold">
                                          <p:stCondLst>
                                            <p:cond delay="0"/>
                                          </p:stCondLst>
                                        </p:cTn>
                                        <p:tgtEl>
                                          <p:spTgt spid="3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2" grpId="1" animBg="1"/>
      <p:bldP spid="23" grpId="0"/>
      <p:bldP spid="23" grpId="1"/>
      <p:bldP spid="26" grpId="0" animBg="1"/>
      <p:bldP spid="26" grpId="1" animBg="1"/>
      <p:bldP spid="27" grpId="0"/>
      <p:bldP spid="27" grpId="1"/>
      <p:bldP spid="30" grpId="0" animBg="1"/>
      <p:bldP spid="30" grpId="1" animBg="1"/>
      <p:bldP spid="32" grpId="0"/>
      <p:bldP spid="32" grpId="1"/>
      <p:bldP spid="34" grpId="0" animBg="1"/>
      <p:bldP spid="34" grpId="1" animBg="1"/>
      <p:bldP spid="35" grpId="0"/>
      <p:bldP spid="35" grpId="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7EA9E4B4-7D3F-44D3-8DA4-96A60BB1BC25}"/>
              </a:ext>
            </a:extLst>
          </p:cNvPr>
          <p:cNvPicPr>
            <a:picLocks noChangeAspect="1"/>
          </p:cNvPicPr>
          <p:nvPr/>
        </p:nvPicPr>
        <p:blipFill>
          <a:blip r:embed="rId3"/>
          <a:stretch>
            <a:fillRect/>
          </a:stretch>
        </p:blipFill>
        <p:spPr>
          <a:xfrm>
            <a:off x="0" y="1217980"/>
            <a:ext cx="12192000" cy="2759118"/>
          </a:xfrm>
          <a:prstGeom prst="rect">
            <a:avLst/>
          </a:prstGeom>
        </p:spPr>
      </p:pic>
      <p:pic>
        <p:nvPicPr>
          <p:cNvPr id="18" name="图片 17">
            <a:extLst>
              <a:ext uri="{FF2B5EF4-FFF2-40B4-BE49-F238E27FC236}">
                <a16:creationId xmlns:a16="http://schemas.microsoft.com/office/drawing/2014/main" id="{82F09ADC-AFD2-482A-98A2-114980D4B9E7}"/>
              </a:ext>
            </a:extLst>
          </p:cNvPr>
          <p:cNvPicPr>
            <a:picLocks noChangeAspect="1"/>
          </p:cNvPicPr>
          <p:nvPr/>
        </p:nvPicPr>
        <p:blipFill>
          <a:blip r:embed="rId4"/>
          <a:stretch>
            <a:fillRect/>
          </a:stretch>
        </p:blipFill>
        <p:spPr>
          <a:xfrm>
            <a:off x="-78958" y="3997306"/>
            <a:ext cx="6282527" cy="2493722"/>
          </a:xfrm>
          <a:prstGeom prst="rect">
            <a:avLst/>
          </a:prstGeom>
        </p:spPr>
      </p:pic>
      <p:sp>
        <p:nvSpPr>
          <p:cNvPr id="11" name="椭圆 10">
            <a:extLst>
              <a:ext uri="{FF2B5EF4-FFF2-40B4-BE49-F238E27FC236}">
                <a16:creationId xmlns:a16="http://schemas.microsoft.com/office/drawing/2014/main" id="{8E289B97-3EA5-028E-444A-8EB3690D5F5D}"/>
              </a:ext>
            </a:extLst>
          </p:cNvPr>
          <p:cNvSpPr/>
          <p:nvPr/>
        </p:nvSpPr>
        <p:spPr>
          <a:xfrm>
            <a:off x="-217832" y="-426322"/>
            <a:ext cx="2344420" cy="2344420"/>
          </a:xfrm>
          <a:prstGeom prst="ellipse">
            <a:avLst/>
          </a:prstGeom>
          <a:solidFill>
            <a:srgbClr val="A6B1C6">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lt1"/>
              </a:solidFill>
              <a:cs typeface="思源黑体 CN Normal" panose="020B0400000000000000" charset="-122"/>
            </a:endParaRPr>
          </a:p>
        </p:txBody>
      </p:sp>
      <p:grpSp>
        <p:nvGrpSpPr>
          <p:cNvPr id="12" name="组合 11">
            <a:extLst>
              <a:ext uri="{FF2B5EF4-FFF2-40B4-BE49-F238E27FC236}">
                <a16:creationId xmlns:a16="http://schemas.microsoft.com/office/drawing/2014/main" id="{D7ACDA95-F13B-2F0F-BEC1-8641B80CDE83}"/>
              </a:ext>
            </a:extLst>
          </p:cNvPr>
          <p:cNvGrpSpPr/>
          <p:nvPr/>
        </p:nvGrpSpPr>
        <p:grpSpPr>
          <a:xfrm>
            <a:off x="-121136" y="7448"/>
            <a:ext cx="12313136" cy="1198477"/>
            <a:chOff x="6121" y="1678"/>
            <a:chExt cx="19370" cy="1470"/>
          </a:xfrm>
        </p:grpSpPr>
        <p:sp>
          <p:nvSpPr>
            <p:cNvPr id="15" name="平行四边形 14">
              <a:extLst>
                <a:ext uri="{FF2B5EF4-FFF2-40B4-BE49-F238E27FC236}">
                  <a16:creationId xmlns:a16="http://schemas.microsoft.com/office/drawing/2014/main" id="{53D7386B-8F06-7F51-62BF-1D778A964F11}"/>
                </a:ext>
              </a:extLst>
            </p:cNvPr>
            <p:cNvSpPr/>
            <p:nvPr/>
          </p:nvSpPr>
          <p:spPr>
            <a:xfrm rot="16200000">
              <a:off x="7584" y="2177"/>
              <a:ext cx="1470" cy="472"/>
            </a:xfrm>
            <a:prstGeom prst="parallelogram">
              <a:avLst>
                <a:gd name="adj" fmla="val 76588"/>
              </a:avLst>
            </a:prstGeom>
            <a:solidFill>
              <a:srgbClr val="515983"/>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6" name="平行四边形 15">
              <a:extLst>
                <a:ext uri="{FF2B5EF4-FFF2-40B4-BE49-F238E27FC236}">
                  <a16:creationId xmlns:a16="http://schemas.microsoft.com/office/drawing/2014/main" id="{CA87F104-0887-07B3-BE33-5B8FEA5FD472}"/>
                </a:ext>
              </a:extLst>
            </p:cNvPr>
            <p:cNvSpPr/>
            <p:nvPr/>
          </p:nvSpPr>
          <p:spPr>
            <a:xfrm rot="20760000">
              <a:off x="6121" y="1913"/>
              <a:ext cx="2130" cy="1064"/>
            </a:xfrm>
            <a:prstGeom prst="parallelogram">
              <a:avLst/>
            </a:prstGeom>
            <a:gradFill>
              <a:gsLst>
                <a:gs pos="100000">
                  <a:srgbClr val="515983"/>
                </a:gs>
                <a:gs pos="0">
                  <a:srgbClr val="515983">
                    <a:alpha val="51000"/>
                  </a:srgbClr>
                </a:gs>
              </a:gsLst>
              <a:lin ang="162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7" name="矩形 16">
              <a:extLst>
                <a:ext uri="{FF2B5EF4-FFF2-40B4-BE49-F238E27FC236}">
                  <a16:creationId xmlns:a16="http://schemas.microsoft.com/office/drawing/2014/main" id="{1279C17D-BC90-0BD1-5AB5-AFEEE2260364}"/>
                </a:ext>
              </a:extLst>
            </p:cNvPr>
            <p:cNvSpPr/>
            <p:nvPr/>
          </p:nvSpPr>
          <p:spPr>
            <a:xfrm>
              <a:off x="8540" y="2032"/>
              <a:ext cx="16951" cy="1106"/>
            </a:xfrm>
            <a:prstGeom prst="rect">
              <a:avLst/>
            </a:prstGeom>
            <a:gradFill>
              <a:gsLst>
                <a:gs pos="100000">
                  <a:srgbClr val="5F85C3"/>
                </a:gs>
                <a:gs pos="0">
                  <a:srgbClr val="515983"/>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sp>
        <p:nvSpPr>
          <p:cNvPr id="13" name="文本框 17">
            <a:extLst>
              <a:ext uri="{FF2B5EF4-FFF2-40B4-BE49-F238E27FC236}">
                <a16:creationId xmlns:a16="http://schemas.microsoft.com/office/drawing/2014/main" id="{831A12D7-C3D3-65E0-CE7C-E92B0A1D4F10}"/>
              </a:ext>
            </a:extLst>
          </p:cNvPr>
          <p:cNvSpPr txBox="1"/>
          <p:nvPr/>
        </p:nvSpPr>
        <p:spPr>
          <a:xfrm rot="20700000">
            <a:off x="123434" y="327464"/>
            <a:ext cx="1009650" cy="645160"/>
          </a:xfrm>
          <a:prstGeom prst="rect">
            <a:avLst/>
          </a:prstGeom>
          <a:noFill/>
          <a:ln w="9525">
            <a:noFill/>
          </a:ln>
        </p:spPr>
        <p:txBody>
          <a:bodyPr wrap="square" anchor="ctr" anchorCtr="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ctr"/>
            <a:r>
              <a:rPr lang="en-US" altLang="zh-CN" sz="3600" b="1" dirty="0">
                <a:solidFill>
                  <a:schemeClr val="bg1"/>
                </a:solidFill>
                <a:latin typeface="微软雅黑" panose="020B0503020204020204" charset="-122"/>
                <a:ea typeface="微软雅黑" panose="020B0503020204020204" charset="-122"/>
                <a:cs typeface="思源黑体 CN Normal" panose="020B0400000000000000" charset="-122"/>
              </a:rPr>
              <a:t>04</a:t>
            </a:r>
          </a:p>
        </p:txBody>
      </p:sp>
      <p:sp>
        <p:nvSpPr>
          <p:cNvPr id="14" name="文本框 3">
            <a:extLst>
              <a:ext uri="{FF2B5EF4-FFF2-40B4-BE49-F238E27FC236}">
                <a16:creationId xmlns:a16="http://schemas.microsoft.com/office/drawing/2014/main" id="{0E09A78A-3AA6-34D7-38D8-A21A06EA63F9}"/>
              </a:ext>
            </a:extLst>
          </p:cNvPr>
          <p:cNvSpPr txBox="1"/>
          <p:nvPr/>
        </p:nvSpPr>
        <p:spPr>
          <a:xfrm>
            <a:off x="1416576" y="453500"/>
            <a:ext cx="4191000" cy="58477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ctr"/>
            <a:r>
              <a:rPr lang="en-US" altLang="zh-CN" sz="3200" b="1" dirty="0">
                <a:solidFill>
                  <a:schemeClr val="bg1"/>
                </a:solidFill>
                <a:latin typeface="微软雅黑" panose="020B0503020204020204" charset="-122"/>
                <a:ea typeface="微软雅黑" panose="020B0503020204020204" charset="-122"/>
                <a:cs typeface="思源黑体 CN Normal" panose="020B0400000000000000" charset="-122"/>
                <a:sym typeface="+mn-ea"/>
              </a:rPr>
              <a:t>Experiment</a:t>
            </a:r>
            <a:endParaRPr lang="zh-CN" altLang="en-US" sz="3200" b="1" dirty="0">
              <a:solidFill>
                <a:schemeClr val="bg1"/>
              </a:solidFill>
              <a:latin typeface="微软雅黑" panose="020B0503020204020204" charset="-122"/>
              <a:ea typeface="微软雅黑" panose="020B0503020204020204" charset="-122"/>
              <a:cs typeface="思源黑体 CN Normal" panose="020B0400000000000000" charset="-122"/>
              <a:sym typeface="+mn-ea"/>
            </a:endParaRPr>
          </a:p>
        </p:txBody>
      </p:sp>
      <p:pic>
        <p:nvPicPr>
          <p:cNvPr id="2050" name="Picture 2">
            <a:extLst>
              <a:ext uri="{FF2B5EF4-FFF2-40B4-BE49-F238E27FC236}">
                <a16:creationId xmlns:a16="http://schemas.microsoft.com/office/drawing/2014/main" id="{2DA4C3AB-DFF7-49DA-91A2-6A2C4A2D9E9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672176" y="297592"/>
            <a:ext cx="1392495" cy="867988"/>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9" name="文本框 18">
                <a:extLst>
                  <a:ext uri="{FF2B5EF4-FFF2-40B4-BE49-F238E27FC236}">
                    <a16:creationId xmlns:a16="http://schemas.microsoft.com/office/drawing/2014/main" id="{5C2AC352-07D4-4235-BA7E-87BE49B75834}"/>
                  </a:ext>
                </a:extLst>
              </p:cNvPr>
              <p:cNvSpPr txBox="1"/>
              <p:nvPr/>
            </p:nvSpPr>
            <p:spPr>
              <a:xfrm>
                <a:off x="5982856" y="4012004"/>
                <a:ext cx="6085212" cy="340606"/>
              </a:xfrm>
              <a:prstGeom prst="rect">
                <a:avLst/>
              </a:prstGeom>
              <a:noFill/>
            </p:spPr>
            <p:txBody>
              <a:bodyPr wrap="square">
                <a:spAutoFit/>
              </a:bodyPr>
              <a:lstStyle/>
              <a:p>
                <a:pPr marL="342900" indent="-342900">
                  <a:lnSpc>
                    <a:spcPct val="150000"/>
                  </a:lnSpc>
                  <a:buFont typeface="Arial" panose="020B0604020202020204" pitchFamily="34" charset="0"/>
                  <a:buChar char="•"/>
                </a:pPr>
                <a14:m>
                  <m:oMath xmlns:m="http://schemas.openxmlformats.org/officeDocument/2006/math">
                    <m:r>
                      <a:rPr lang="en-US" altLang="zh-CN" sz="1200" b="1" i="1" smtClean="0">
                        <a:latin typeface="Cambria Math" panose="02040503050406030204" pitchFamily="18" charset="0"/>
                      </a:rPr>
                      <m:t>𝑳𝑳𝑴</m:t>
                    </m:r>
                    <m:r>
                      <a:rPr lang="en-US" altLang="zh-CN" sz="1200" b="1" i="1" smtClean="0">
                        <a:latin typeface="Cambria Math" panose="02040503050406030204" pitchFamily="18" charset="0"/>
                      </a:rPr>
                      <m:t>𝟐</m:t>
                    </m:r>
                    <m:r>
                      <a:rPr lang="en-US" altLang="zh-CN" sz="1200" b="1" i="1" smtClean="0">
                        <a:latin typeface="Cambria Math" panose="02040503050406030204" pitchFamily="18" charset="0"/>
                      </a:rPr>
                      <m:t>𝑪𝒐𝒎</m:t>
                    </m:r>
                    <m:sSub>
                      <m:sSubPr>
                        <m:ctrlPr>
                          <a:rPr lang="en-US" altLang="zh-CN" sz="1200" b="1" i="1" smtClean="0">
                            <a:latin typeface="Cambria Math" panose="02040503050406030204" pitchFamily="18" charset="0"/>
                          </a:rPr>
                        </m:ctrlPr>
                      </m:sSubPr>
                      <m:e>
                        <m:r>
                          <a:rPr lang="en-US" altLang="zh-CN" sz="1200" b="1" i="1" smtClean="0">
                            <a:latin typeface="Cambria Math" panose="02040503050406030204" pitchFamily="18" charset="0"/>
                          </a:rPr>
                          <m:t>𝒑</m:t>
                        </m:r>
                      </m:e>
                      <m:sub>
                        <m:r>
                          <a:rPr lang="en-US" altLang="zh-CN" sz="1200" b="1" i="1" smtClean="0">
                            <a:latin typeface="Cambria Math" panose="02040503050406030204" pitchFamily="18" charset="0"/>
                          </a:rPr>
                          <m:t>𝑹𝑪</m:t>
                        </m:r>
                      </m:sub>
                    </m:sSub>
                  </m:oMath>
                </a14:m>
                <a:r>
                  <a:rPr lang="en-US" altLang="zh-CN" sz="1200" b="1" dirty="0"/>
                  <a:t> performs </a:t>
                </a:r>
                <a:r>
                  <a:rPr lang="en-US" altLang="zh-CN" sz="1200" b="1" dirty="0">
                    <a:solidFill>
                      <a:srgbClr val="FF0000"/>
                    </a:solidFill>
                  </a:rPr>
                  <a:t>only</a:t>
                </a:r>
                <a:r>
                  <a:rPr lang="en-US" altLang="zh-CN" sz="1200" b="1" dirty="0"/>
                  <a:t> </a:t>
                </a:r>
                <a:r>
                  <a:rPr lang="en-US" altLang="zh-CN" sz="1200" b="1" dirty="0">
                    <a:solidFill>
                      <a:srgbClr val="FF0000"/>
                    </a:solidFill>
                  </a:rPr>
                  <a:t>slightly better </a:t>
                </a:r>
                <a:r>
                  <a:rPr lang="en-US" altLang="zh-CN" sz="1200" b="1" dirty="0"/>
                  <a:t>than simple last-token pooling (LT).</a:t>
                </a:r>
              </a:p>
            </p:txBody>
          </p:sp>
        </mc:Choice>
        <mc:Fallback xmlns="">
          <p:sp>
            <p:nvSpPr>
              <p:cNvPr id="19" name="文本框 18">
                <a:extLst>
                  <a:ext uri="{FF2B5EF4-FFF2-40B4-BE49-F238E27FC236}">
                    <a16:creationId xmlns:a16="http://schemas.microsoft.com/office/drawing/2014/main" id="{5C2AC352-07D4-4235-BA7E-87BE49B75834}"/>
                  </a:ext>
                </a:extLst>
              </p:cNvPr>
              <p:cNvSpPr txBox="1">
                <a:spLocks noRot="1" noChangeAspect="1" noMove="1" noResize="1" noEditPoints="1" noAdjustHandles="1" noChangeArrowheads="1" noChangeShapeType="1" noTextEdit="1"/>
              </p:cNvSpPr>
              <p:nvPr/>
            </p:nvSpPr>
            <p:spPr>
              <a:xfrm>
                <a:off x="5982856" y="4012004"/>
                <a:ext cx="6085212" cy="340606"/>
              </a:xfrm>
              <a:prstGeom prst="rect">
                <a:avLst/>
              </a:prstGeom>
              <a:blipFill>
                <a:blip r:embed="rId6"/>
                <a:stretch>
                  <a:fillRect b="-14286"/>
                </a:stretch>
              </a:blipFill>
            </p:spPr>
            <p:txBody>
              <a:bodyPr/>
              <a:lstStyle/>
              <a:p>
                <a:r>
                  <a:rPr lang="zh-CN" altLang="en-US">
                    <a:noFill/>
                  </a:rPr>
                  <a:t> </a:t>
                </a:r>
              </a:p>
            </p:txBody>
          </p:sp>
        </mc:Fallback>
      </mc:AlternateContent>
      <p:sp>
        <p:nvSpPr>
          <p:cNvPr id="2" name="矩形 1">
            <a:extLst>
              <a:ext uri="{FF2B5EF4-FFF2-40B4-BE49-F238E27FC236}">
                <a16:creationId xmlns:a16="http://schemas.microsoft.com/office/drawing/2014/main" id="{3573C5AC-2C6C-4F0B-9978-686700AC443A}"/>
              </a:ext>
            </a:extLst>
          </p:cNvPr>
          <p:cNvSpPr/>
          <p:nvPr/>
        </p:nvSpPr>
        <p:spPr>
          <a:xfrm>
            <a:off x="134471" y="3380249"/>
            <a:ext cx="11930200" cy="13769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20" name="文本框 19">
                <a:extLst>
                  <a:ext uri="{FF2B5EF4-FFF2-40B4-BE49-F238E27FC236}">
                    <a16:creationId xmlns:a16="http://schemas.microsoft.com/office/drawing/2014/main" id="{D976FF71-6852-4B03-8701-65660355CC59}"/>
                  </a:ext>
                </a:extLst>
              </p:cNvPr>
              <p:cNvSpPr txBox="1"/>
              <p:nvPr/>
            </p:nvSpPr>
            <p:spPr>
              <a:xfrm>
                <a:off x="5982856" y="4388138"/>
                <a:ext cx="6221515" cy="1449179"/>
              </a:xfrm>
              <a:prstGeom prst="rect">
                <a:avLst/>
              </a:prstGeom>
              <a:noFill/>
            </p:spPr>
            <p:txBody>
              <a:bodyPr wrap="square">
                <a:spAutoFit/>
              </a:bodyPr>
              <a:lstStyle/>
              <a:p>
                <a:pPr marL="342900" indent="-342900">
                  <a:lnSpc>
                    <a:spcPct val="150000"/>
                  </a:lnSpc>
                  <a:buFont typeface="Arial" panose="020B0604020202020204" pitchFamily="34" charset="0"/>
                  <a:buChar char="•"/>
                </a:pPr>
                <a:r>
                  <a:rPr lang="en-US" altLang="zh-CN" sz="1200" b="1" dirty="0"/>
                  <a:t>Continuation-based objectives lead to substantial improvements, making </a:t>
                </a:r>
                <a14:m>
                  <m:oMath xmlns:m="http://schemas.openxmlformats.org/officeDocument/2006/math">
                    <m:r>
                      <a:rPr lang="en-US" altLang="zh-CN" sz="1200" b="1" i="1">
                        <a:latin typeface="Cambria Math" panose="02040503050406030204" pitchFamily="18" charset="0"/>
                      </a:rPr>
                      <m:t>𝑳</m:t>
                    </m:r>
                    <m:r>
                      <a:rPr lang="en-US" altLang="zh-CN" sz="1200" b="1" i="1" smtClean="0">
                        <a:latin typeface="Cambria Math" panose="02040503050406030204" pitchFamily="18" charset="0"/>
                      </a:rPr>
                      <m:t>𝑳𝑴</m:t>
                    </m:r>
                    <m:r>
                      <a:rPr lang="en-US" altLang="zh-CN" sz="1200" b="1" i="1">
                        <a:latin typeface="Cambria Math" panose="02040503050406030204" pitchFamily="18" charset="0"/>
                      </a:rPr>
                      <m:t>𝟐</m:t>
                    </m:r>
                    <m:r>
                      <a:rPr lang="en-US" altLang="zh-CN" sz="1200" b="1" i="1">
                        <a:latin typeface="Cambria Math" panose="02040503050406030204" pitchFamily="18" charset="0"/>
                      </a:rPr>
                      <m:t>𝑪𝒐𝒎</m:t>
                    </m:r>
                    <m:sSub>
                      <m:sSubPr>
                        <m:ctrlPr>
                          <a:rPr lang="en-US" altLang="zh-CN" sz="1200" b="1" i="1">
                            <a:latin typeface="Cambria Math" panose="02040503050406030204" pitchFamily="18" charset="0"/>
                          </a:rPr>
                        </m:ctrlPr>
                      </m:sSubPr>
                      <m:e>
                        <m:r>
                          <a:rPr lang="en-US" altLang="zh-CN" sz="1200" b="1" i="1">
                            <a:latin typeface="Cambria Math" panose="02040503050406030204" pitchFamily="18" charset="0"/>
                          </a:rPr>
                          <m:t>𝒑</m:t>
                        </m:r>
                      </m:e>
                      <m:sub>
                        <m:r>
                          <a:rPr lang="en-US" altLang="zh-CN" sz="1200" b="1" i="1" smtClean="0">
                            <a:latin typeface="Cambria Math" panose="02040503050406030204" pitchFamily="18" charset="0"/>
                          </a:rPr>
                          <m:t>𝑵𝑳𝑳</m:t>
                        </m:r>
                      </m:sub>
                    </m:sSub>
                  </m:oMath>
                </a14:m>
                <a:r>
                  <a:rPr lang="en-US" altLang="zh-CN" sz="1200" b="1" dirty="0"/>
                  <a:t> and </a:t>
                </a:r>
                <a14:m>
                  <m:oMath xmlns:m="http://schemas.openxmlformats.org/officeDocument/2006/math">
                    <m:r>
                      <a:rPr lang="en-US" altLang="zh-CN" sz="1200" b="1" i="1">
                        <a:latin typeface="Cambria Math" panose="02040503050406030204" pitchFamily="18" charset="0"/>
                      </a:rPr>
                      <m:t>𝑳</m:t>
                    </m:r>
                    <m:r>
                      <a:rPr lang="en-US" altLang="zh-CN" sz="1200" b="1" i="1" smtClean="0">
                        <a:latin typeface="Cambria Math" panose="02040503050406030204" pitchFamily="18" charset="0"/>
                      </a:rPr>
                      <m:t>𝒍𝒎</m:t>
                    </m:r>
                    <m:r>
                      <a:rPr lang="en-US" altLang="zh-CN" sz="1200" b="1" i="1">
                        <a:latin typeface="Cambria Math" panose="02040503050406030204" pitchFamily="18" charset="0"/>
                      </a:rPr>
                      <m:t>𝟐</m:t>
                    </m:r>
                    <m:r>
                      <a:rPr lang="en-US" altLang="zh-CN" sz="1200" b="1" i="1">
                        <a:latin typeface="Cambria Math" panose="02040503050406030204" pitchFamily="18" charset="0"/>
                      </a:rPr>
                      <m:t>𝑪𝒐𝒎</m:t>
                    </m:r>
                    <m:sSub>
                      <m:sSubPr>
                        <m:ctrlPr>
                          <a:rPr lang="en-US" altLang="zh-CN" sz="1200" b="1" i="1">
                            <a:latin typeface="Cambria Math" panose="02040503050406030204" pitchFamily="18" charset="0"/>
                          </a:rPr>
                        </m:ctrlPr>
                      </m:sSubPr>
                      <m:e>
                        <m:r>
                          <a:rPr lang="en-US" altLang="zh-CN" sz="1200" b="1" i="1">
                            <a:latin typeface="Cambria Math" panose="02040503050406030204" pitchFamily="18" charset="0"/>
                          </a:rPr>
                          <m:t>𝒑</m:t>
                        </m:r>
                      </m:e>
                      <m:sub>
                        <m:r>
                          <a:rPr lang="en-US" altLang="zh-CN" sz="1200" b="1" i="1" smtClean="0">
                            <a:latin typeface="Cambria Math" panose="02040503050406030204" pitchFamily="18" charset="0"/>
                          </a:rPr>
                          <m:t>𝑲𝑳</m:t>
                        </m:r>
                      </m:sub>
                    </m:sSub>
                    <m:r>
                      <a:rPr lang="en-US" altLang="zh-CN" sz="1200" b="1" i="1">
                        <a:latin typeface="Cambria Math" panose="02040503050406030204" pitchFamily="18" charset="0"/>
                      </a:rPr>
                      <m:t> </m:t>
                    </m:r>
                  </m:oMath>
                </a14:m>
                <a:r>
                  <a:rPr lang="en-US" altLang="zh-CN" sz="1200" b="1" dirty="0"/>
                  <a:t>significantly </a:t>
                </a:r>
                <a:r>
                  <a:rPr lang="en-US" altLang="zh-CN" sz="1200" b="1" dirty="0">
                    <a:solidFill>
                      <a:srgbClr val="FF0000"/>
                    </a:solidFill>
                  </a:rPr>
                  <a:t>outperform</a:t>
                </a:r>
                <a:r>
                  <a:rPr lang="en-US" altLang="zh-CN" sz="1200" b="1" dirty="0"/>
                  <a:t> LLM2Vec, Llama2Vec and all training-free baselines by a large margin.</a:t>
                </a:r>
              </a:p>
              <a:p>
                <a:pPr marL="342900" indent="-342900">
                  <a:lnSpc>
                    <a:spcPct val="150000"/>
                  </a:lnSpc>
                  <a:buFont typeface="Arial" panose="020B0604020202020204" pitchFamily="34" charset="0"/>
                  <a:buChar char="•"/>
                </a:pPr>
                <a:r>
                  <a:rPr lang="en-US" altLang="zh-CN" sz="1200" b="1" dirty="0"/>
                  <a:t>The continuation task and knowledge distillation objective proves to be </a:t>
                </a:r>
                <a:r>
                  <a:rPr lang="en-US" altLang="zh-CN" sz="1200" b="1" dirty="0">
                    <a:solidFill>
                      <a:srgbClr val="FF0000"/>
                    </a:solidFill>
                  </a:rPr>
                  <a:t>more suitable </a:t>
                </a:r>
                <a:r>
                  <a:rPr lang="en-US" altLang="zh-CN" sz="1200" b="1" dirty="0"/>
                  <a:t>than the continuation task and NLL loss objective for text representation.</a:t>
                </a:r>
              </a:p>
            </p:txBody>
          </p:sp>
        </mc:Choice>
        <mc:Fallback xmlns="">
          <p:sp>
            <p:nvSpPr>
              <p:cNvPr id="20" name="文本框 19">
                <a:extLst>
                  <a:ext uri="{FF2B5EF4-FFF2-40B4-BE49-F238E27FC236}">
                    <a16:creationId xmlns:a16="http://schemas.microsoft.com/office/drawing/2014/main" id="{D976FF71-6852-4B03-8701-65660355CC59}"/>
                  </a:ext>
                </a:extLst>
              </p:cNvPr>
              <p:cNvSpPr txBox="1">
                <a:spLocks noRot="1" noChangeAspect="1" noMove="1" noResize="1" noEditPoints="1" noAdjustHandles="1" noChangeArrowheads="1" noChangeShapeType="1" noTextEdit="1"/>
              </p:cNvSpPr>
              <p:nvPr/>
            </p:nvSpPr>
            <p:spPr>
              <a:xfrm>
                <a:off x="5982856" y="4388138"/>
                <a:ext cx="6221515" cy="1449179"/>
              </a:xfrm>
              <a:prstGeom prst="rect">
                <a:avLst/>
              </a:prstGeom>
              <a:blipFill>
                <a:blip r:embed="rId7"/>
                <a:stretch>
                  <a:fillRect b="-2521"/>
                </a:stretch>
              </a:blipFill>
            </p:spPr>
            <p:txBody>
              <a:bodyPr/>
              <a:lstStyle/>
              <a:p>
                <a:r>
                  <a:rPr lang="zh-CN" altLang="en-US">
                    <a:noFill/>
                  </a:rPr>
                  <a:t> </a:t>
                </a:r>
              </a:p>
            </p:txBody>
          </p:sp>
        </mc:Fallback>
      </mc:AlternateContent>
      <p:sp>
        <p:nvSpPr>
          <p:cNvPr id="21" name="矩形 20">
            <a:extLst>
              <a:ext uri="{FF2B5EF4-FFF2-40B4-BE49-F238E27FC236}">
                <a16:creationId xmlns:a16="http://schemas.microsoft.com/office/drawing/2014/main" id="{B3828E5B-49F9-4076-9647-8B544909F61D}"/>
              </a:ext>
            </a:extLst>
          </p:cNvPr>
          <p:cNvSpPr/>
          <p:nvPr/>
        </p:nvSpPr>
        <p:spPr>
          <a:xfrm>
            <a:off x="134471" y="3519099"/>
            <a:ext cx="11930200" cy="29354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22" name="文本框 21">
                <a:extLst>
                  <a:ext uri="{FF2B5EF4-FFF2-40B4-BE49-F238E27FC236}">
                    <a16:creationId xmlns:a16="http://schemas.microsoft.com/office/drawing/2014/main" id="{95CF4D8A-F6F0-4B0E-8998-1E4112118F1C}"/>
                  </a:ext>
                </a:extLst>
              </p:cNvPr>
              <p:cNvSpPr txBox="1"/>
              <p:nvPr/>
            </p:nvSpPr>
            <p:spPr>
              <a:xfrm>
                <a:off x="5982856" y="5872845"/>
                <a:ext cx="6221515" cy="618183"/>
              </a:xfrm>
              <a:prstGeom prst="rect">
                <a:avLst/>
              </a:prstGeom>
              <a:noFill/>
            </p:spPr>
            <p:txBody>
              <a:bodyPr wrap="square">
                <a:spAutoFit/>
              </a:bodyPr>
              <a:lstStyle/>
              <a:p>
                <a:pPr marL="342900" indent="-342900">
                  <a:lnSpc>
                    <a:spcPct val="150000"/>
                  </a:lnSpc>
                  <a:buFont typeface="Arial" panose="020B0604020202020204" pitchFamily="34" charset="0"/>
                  <a:buChar char="•"/>
                </a:pPr>
                <a14:m>
                  <m:oMath xmlns:m="http://schemas.openxmlformats.org/officeDocument/2006/math">
                    <m:r>
                      <a:rPr lang="en-US" altLang="zh-CN" sz="1200" b="1" i="1" smtClean="0">
                        <a:latin typeface="Cambria Math" panose="02040503050406030204" pitchFamily="18" charset="0"/>
                      </a:rPr>
                      <m:t>𝑳𝑳𝑴</m:t>
                    </m:r>
                    <m:r>
                      <a:rPr lang="en-US" altLang="zh-CN" sz="1200" b="1" i="1" smtClean="0">
                        <a:latin typeface="Cambria Math" panose="02040503050406030204" pitchFamily="18" charset="0"/>
                      </a:rPr>
                      <m:t>𝟐</m:t>
                    </m:r>
                    <m:r>
                      <a:rPr lang="en-US" altLang="zh-CN" sz="1200" b="1" i="1" smtClean="0">
                        <a:latin typeface="Cambria Math" panose="02040503050406030204" pitchFamily="18" charset="0"/>
                      </a:rPr>
                      <m:t>𝑪𝒐𝒎</m:t>
                    </m:r>
                    <m:sSub>
                      <m:sSubPr>
                        <m:ctrlPr>
                          <a:rPr lang="en-US" altLang="zh-CN" sz="1200" b="1" i="1">
                            <a:latin typeface="Cambria Math" panose="02040503050406030204" pitchFamily="18" charset="0"/>
                          </a:rPr>
                        </m:ctrlPr>
                      </m:sSubPr>
                      <m:e>
                        <m:r>
                          <a:rPr lang="en-US" altLang="zh-CN" sz="1200" b="1" i="1">
                            <a:latin typeface="Cambria Math" panose="02040503050406030204" pitchFamily="18" charset="0"/>
                          </a:rPr>
                          <m:t>𝒑</m:t>
                        </m:r>
                      </m:e>
                      <m:sub>
                        <m:r>
                          <a:rPr lang="en-US" altLang="zh-CN" sz="1200" b="1" i="1">
                            <a:latin typeface="Cambria Math" panose="02040503050406030204" pitchFamily="18" charset="0"/>
                          </a:rPr>
                          <m:t>𝑲𝑳</m:t>
                        </m:r>
                      </m:sub>
                    </m:sSub>
                    <m:r>
                      <a:rPr lang="en-US" altLang="zh-CN" sz="1200" b="1" i="1">
                        <a:latin typeface="Cambria Math" panose="02040503050406030204" pitchFamily="18" charset="0"/>
                      </a:rPr>
                      <m:t> </m:t>
                    </m:r>
                  </m:oMath>
                </a14:m>
                <a:r>
                  <a:rPr lang="en-US" altLang="zh-CN" sz="1200" b="1" dirty="0"/>
                  <a:t>exhibits </a:t>
                </a:r>
                <a:r>
                  <a:rPr lang="en-US" altLang="zh-CN" sz="1200" b="1" dirty="0">
                    <a:solidFill>
                      <a:srgbClr val="FF0000"/>
                    </a:solidFill>
                  </a:rPr>
                  <a:t>more stable </a:t>
                </a:r>
                <a:r>
                  <a:rPr lang="en-US" altLang="zh-CN" sz="1200" b="1" dirty="0"/>
                  <a:t>training behavior compared to </a:t>
                </a:r>
                <a14:m>
                  <m:oMath xmlns:m="http://schemas.openxmlformats.org/officeDocument/2006/math">
                    <m:r>
                      <a:rPr lang="en-US" altLang="zh-CN" sz="1200" b="1" i="1">
                        <a:latin typeface="Cambria Math" panose="02040503050406030204" pitchFamily="18" charset="0"/>
                      </a:rPr>
                      <m:t>𝑳𝑳𝑴</m:t>
                    </m:r>
                    <m:r>
                      <a:rPr lang="en-US" altLang="zh-CN" sz="1200" b="1" i="1">
                        <a:latin typeface="Cambria Math" panose="02040503050406030204" pitchFamily="18" charset="0"/>
                      </a:rPr>
                      <m:t>𝟐</m:t>
                    </m:r>
                    <m:r>
                      <a:rPr lang="en-US" altLang="zh-CN" sz="1200" b="1" i="1">
                        <a:latin typeface="Cambria Math" panose="02040503050406030204" pitchFamily="18" charset="0"/>
                      </a:rPr>
                      <m:t>𝑪𝒐𝒎</m:t>
                    </m:r>
                    <m:sSub>
                      <m:sSubPr>
                        <m:ctrlPr>
                          <a:rPr lang="en-US" altLang="zh-CN" sz="1200" b="1" i="1">
                            <a:latin typeface="Cambria Math" panose="02040503050406030204" pitchFamily="18" charset="0"/>
                          </a:rPr>
                        </m:ctrlPr>
                      </m:sSubPr>
                      <m:e>
                        <m:r>
                          <a:rPr lang="en-US" altLang="zh-CN" sz="1200" b="1" i="1">
                            <a:latin typeface="Cambria Math" panose="02040503050406030204" pitchFamily="18" charset="0"/>
                          </a:rPr>
                          <m:t>𝒑</m:t>
                        </m:r>
                      </m:e>
                      <m:sub>
                        <m:r>
                          <a:rPr lang="en-US" altLang="zh-CN" sz="1200" b="1" i="1">
                            <a:latin typeface="Cambria Math" panose="02040503050406030204" pitchFamily="18" charset="0"/>
                          </a:rPr>
                          <m:t>𝑵𝑳𝑳</m:t>
                        </m:r>
                      </m:sub>
                    </m:sSub>
                  </m:oMath>
                </a14:m>
                <a:r>
                  <a:rPr lang="en-US" altLang="zh-CN" sz="1200" b="1" dirty="0"/>
                  <a:t> and </a:t>
                </a:r>
                <a14:m>
                  <m:oMath xmlns:m="http://schemas.openxmlformats.org/officeDocument/2006/math">
                    <m:r>
                      <a:rPr lang="en-US" altLang="zh-CN" sz="1200" b="1" i="1">
                        <a:latin typeface="Cambria Math" panose="02040503050406030204" pitchFamily="18" charset="0"/>
                      </a:rPr>
                      <m:t>𝑳𝑳𝑴</m:t>
                    </m:r>
                    <m:r>
                      <a:rPr lang="en-US" altLang="zh-CN" sz="1200" b="1" i="1">
                        <a:latin typeface="Cambria Math" panose="02040503050406030204" pitchFamily="18" charset="0"/>
                      </a:rPr>
                      <m:t>𝟐</m:t>
                    </m:r>
                    <m:r>
                      <a:rPr lang="en-US" altLang="zh-CN" sz="1200" b="1" i="1">
                        <a:latin typeface="Cambria Math" panose="02040503050406030204" pitchFamily="18" charset="0"/>
                      </a:rPr>
                      <m:t>𝑪𝒐𝒎</m:t>
                    </m:r>
                    <m:sSub>
                      <m:sSubPr>
                        <m:ctrlPr>
                          <a:rPr lang="en-US" altLang="zh-CN" sz="1200" b="1" i="1">
                            <a:latin typeface="Cambria Math" panose="02040503050406030204" pitchFamily="18" charset="0"/>
                          </a:rPr>
                        </m:ctrlPr>
                      </m:sSubPr>
                      <m:e>
                        <m:r>
                          <a:rPr lang="en-US" altLang="zh-CN" sz="1200" b="1" i="1">
                            <a:latin typeface="Cambria Math" panose="02040503050406030204" pitchFamily="18" charset="0"/>
                          </a:rPr>
                          <m:t>𝒑</m:t>
                        </m:r>
                      </m:e>
                      <m:sub>
                        <m:r>
                          <a:rPr lang="en-US" altLang="zh-CN" sz="1200" b="1" i="1">
                            <a:latin typeface="Cambria Math" panose="02040503050406030204" pitchFamily="18" charset="0"/>
                          </a:rPr>
                          <m:t>𝑹𝑪</m:t>
                        </m:r>
                      </m:sub>
                    </m:sSub>
                  </m:oMath>
                </a14:m>
                <a:r>
                  <a:rPr lang="en-US" altLang="zh-CN" sz="1200" b="1" dirty="0"/>
                  <a:t>.</a:t>
                </a:r>
              </a:p>
            </p:txBody>
          </p:sp>
        </mc:Choice>
        <mc:Fallback xmlns="">
          <p:sp>
            <p:nvSpPr>
              <p:cNvPr id="22" name="文本框 21">
                <a:extLst>
                  <a:ext uri="{FF2B5EF4-FFF2-40B4-BE49-F238E27FC236}">
                    <a16:creationId xmlns:a16="http://schemas.microsoft.com/office/drawing/2014/main" id="{95CF4D8A-F6F0-4B0E-8998-1E4112118F1C}"/>
                  </a:ext>
                </a:extLst>
              </p:cNvPr>
              <p:cNvSpPr txBox="1">
                <a:spLocks noRot="1" noChangeAspect="1" noMove="1" noResize="1" noEditPoints="1" noAdjustHandles="1" noChangeArrowheads="1" noChangeShapeType="1" noTextEdit="1"/>
              </p:cNvSpPr>
              <p:nvPr/>
            </p:nvSpPr>
            <p:spPr>
              <a:xfrm>
                <a:off x="5982856" y="5872845"/>
                <a:ext cx="6221515" cy="618183"/>
              </a:xfrm>
              <a:prstGeom prst="rect">
                <a:avLst/>
              </a:prstGeom>
              <a:blipFill>
                <a:blip r:embed="rId8"/>
                <a:stretch>
                  <a:fillRect b="-686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76692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barn(inVertical)">
                                      <p:cBhvr>
                                        <p:cTn id="10" dur="500"/>
                                        <p:tgtEl>
                                          <p:spTgt spid="19"/>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1" nodeType="clickEffect">
                                  <p:stCondLst>
                                    <p:cond delay="0"/>
                                  </p:stCondLst>
                                  <p:childTnLst>
                                    <p:set>
                                      <p:cBhvr>
                                        <p:cTn id="14" dur="1" fill="hold">
                                          <p:stCondLst>
                                            <p:cond delay="0"/>
                                          </p:stCondLst>
                                        </p:cTn>
                                        <p:tgtEl>
                                          <p:spTgt spid="2"/>
                                        </p:tgtEl>
                                        <p:attrNameLst>
                                          <p:attrName>style.visibility</p:attrName>
                                        </p:attrNameLst>
                                      </p:cBhvr>
                                      <p:to>
                                        <p:strVal val="hidden"/>
                                      </p:to>
                                    </p:set>
                                  </p:childTnLst>
                                </p:cTn>
                              </p:par>
                              <p:par>
                                <p:cTn id="15" presetID="16" presetClass="entr" presetSubtype="21" fill="hold" grpId="0" nodeType="with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barn(inVertical)">
                                      <p:cBhvr>
                                        <p:cTn id="17" dur="500"/>
                                        <p:tgtEl>
                                          <p:spTgt spid="20"/>
                                        </p:tgtEl>
                                      </p:cBhvr>
                                    </p:animEffect>
                                  </p:childTnLst>
                                </p:cTn>
                              </p:par>
                              <p:par>
                                <p:cTn id="18" presetID="16" presetClass="entr" presetSubtype="21" fill="hold" grpId="0" nodeType="withEffect">
                                  <p:stCondLst>
                                    <p:cond delay="0"/>
                                  </p:stCondLst>
                                  <p:childTnLst>
                                    <p:set>
                                      <p:cBhvr>
                                        <p:cTn id="19" dur="1" fill="hold">
                                          <p:stCondLst>
                                            <p:cond delay="0"/>
                                          </p:stCondLst>
                                        </p:cTn>
                                        <p:tgtEl>
                                          <p:spTgt spid="21"/>
                                        </p:tgtEl>
                                        <p:attrNameLst>
                                          <p:attrName>style.visibility</p:attrName>
                                        </p:attrNameLst>
                                      </p:cBhvr>
                                      <p:to>
                                        <p:strVal val="visible"/>
                                      </p:to>
                                    </p:set>
                                    <p:animEffect transition="in" filter="barn(inVertical)">
                                      <p:cBhvr>
                                        <p:cTn id="20" dur="500"/>
                                        <p:tgtEl>
                                          <p:spTgt spid="21"/>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xit" presetSubtype="0" fill="hold" grpId="1" nodeType="clickEffect">
                                  <p:stCondLst>
                                    <p:cond delay="0"/>
                                  </p:stCondLst>
                                  <p:childTnLst>
                                    <p:set>
                                      <p:cBhvr>
                                        <p:cTn id="24" dur="1" fill="hold">
                                          <p:stCondLst>
                                            <p:cond delay="0"/>
                                          </p:stCondLst>
                                        </p:cTn>
                                        <p:tgtEl>
                                          <p:spTgt spid="21"/>
                                        </p:tgtEl>
                                        <p:attrNameLst>
                                          <p:attrName>style.visibility</p:attrName>
                                        </p:attrNameLst>
                                      </p:cBhvr>
                                      <p:to>
                                        <p:strVal val="hidden"/>
                                      </p:to>
                                    </p:set>
                                  </p:childTnLst>
                                </p:cTn>
                              </p:par>
                              <p:par>
                                <p:cTn id="25" presetID="16" presetClass="entr" presetSubtype="21"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animEffect transition="in" filter="barn(inVertical)">
                                      <p:cBhvr>
                                        <p:cTn id="27"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 grpId="0" animBg="1"/>
      <p:bldP spid="2" grpId="1" animBg="1"/>
      <p:bldP spid="20" grpId="0"/>
      <p:bldP spid="21" grpId="0" animBg="1"/>
      <p:bldP spid="21" grpId="1" animBg="1"/>
      <p:bldP spid="2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9227FD65-2E96-4208-B9D0-561AFC63196D}"/>
              </a:ext>
            </a:extLst>
          </p:cNvPr>
          <p:cNvPicPr>
            <a:picLocks noChangeAspect="1"/>
          </p:cNvPicPr>
          <p:nvPr/>
        </p:nvPicPr>
        <p:blipFill>
          <a:blip r:embed="rId3"/>
          <a:stretch>
            <a:fillRect/>
          </a:stretch>
        </p:blipFill>
        <p:spPr>
          <a:xfrm>
            <a:off x="0" y="1291462"/>
            <a:ext cx="12192000" cy="3774466"/>
          </a:xfrm>
          <a:prstGeom prst="rect">
            <a:avLst/>
          </a:prstGeom>
        </p:spPr>
      </p:pic>
      <p:sp>
        <p:nvSpPr>
          <p:cNvPr id="11" name="椭圆 10">
            <a:extLst>
              <a:ext uri="{FF2B5EF4-FFF2-40B4-BE49-F238E27FC236}">
                <a16:creationId xmlns:a16="http://schemas.microsoft.com/office/drawing/2014/main" id="{8E289B97-3EA5-028E-444A-8EB3690D5F5D}"/>
              </a:ext>
            </a:extLst>
          </p:cNvPr>
          <p:cNvSpPr/>
          <p:nvPr/>
        </p:nvSpPr>
        <p:spPr>
          <a:xfrm>
            <a:off x="-217832" y="-426322"/>
            <a:ext cx="2344420" cy="2344420"/>
          </a:xfrm>
          <a:prstGeom prst="ellipse">
            <a:avLst/>
          </a:prstGeom>
          <a:solidFill>
            <a:srgbClr val="A6B1C6">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lt1"/>
              </a:solidFill>
              <a:cs typeface="思源黑体 CN Normal" panose="020B0400000000000000" charset="-122"/>
            </a:endParaRPr>
          </a:p>
        </p:txBody>
      </p:sp>
      <p:grpSp>
        <p:nvGrpSpPr>
          <p:cNvPr id="12" name="组合 11">
            <a:extLst>
              <a:ext uri="{FF2B5EF4-FFF2-40B4-BE49-F238E27FC236}">
                <a16:creationId xmlns:a16="http://schemas.microsoft.com/office/drawing/2014/main" id="{D7ACDA95-F13B-2F0F-BEC1-8641B80CDE83}"/>
              </a:ext>
            </a:extLst>
          </p:cNvPr>
          <p:cNvGrpSpPr/>
          <p:nvPr/>
        </p:nvGrpSpPr>
        <p:grpSpPr>
          <a:xfrm>
            <a:off x="-121136" y="7448"/>
            <a:ext cx="12313136" cy="1198477"/>
            <a:chOff x="6121" y="1678"/>
            <a:chExt cx="19370" cy="1470"/>
          </a:xfrm>
        </p:grpSpPr>
        <p:sp>
          <p:nvSpPr>
            <p:cNvPr id="15" name="平行四边形 14">
              <a:extLst>
                <a:ext uri="{FF2B5EF4-FFF2-40B4-BE49-F238E27FC236}">
                  <a16:creationId xmlns:a16="http://schemas.microsoft.com/office/drawing/2014/main" id="{53D7386B-8F06-7F51-62BF-1D778A964F11}"/>
                </a:ext>
              </a:extLst>
            </p:cNvPr>
            <p:cNvSpPr/>
            <p:nvPr/>
          </p:nvSpPr>
          <p:spPr>
            <a:xfrm rot="16200000">
              <a:off x="7584" y="2177"/>
              <a:ext cx="1470" cy="472"/>
            </a:xfrm>
            <a:prstGeom prst="parallelogram">
              <a:avLst>
                <a:gd name="adj" fmla="val 76588"/>
              </a:avLst>
            </a:prstGeom>
            <a:solidFill>
              <a:srgbClr val="515983"/>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6" name="平行四边形 15">
              <a:extLst>
                <a:ext uri="{FF2B5EF4-FFF2-40B4-BE49-F238E27FC236}">
                  <a16:creationId xmlns:a16="http://schemas.microsoft.com/office/drawing/2014/main" id="{CA87F104-0887-07B3-BE33-5B8FEA5FD472}"/>
                </a:ext>
              </a:extLst>
            </p:cNvPr>
            <p:cNvSpPr/>
            <p:nvPr/>
          </p:nvSpPr>
          <p:spPr>
            <a:xfrm rot="20760000">
              <a:off x="6121" y="1913"/>
              <a:ext cx="2130" cy="1064"/>
            </a:xfrm>
            <a:prstGeom prst="parallelogram">
              <a:avLst/>
            </a:prstGeom>
            <a:gradFill>
              <a:gsLst>
                <a:gs pos="100000">
                  <a:srgbClr val="515983"/>
                </a:gs>
                <a:gs pos="0">
                  <a:srgbClr val="515983">
                    <a:alpha val="51000"/>
                  </a:srgbClr>
                </a:gs>
              </a:gsLst>
              <a:lin ang="162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7" name="矩形 16">
              <a:extLst>
                <a:ext uri="{FF2B5EF4-FFF2-40B4-BE49-F238E27FC236}">
                  <a16:creationId xmlns:a16="http://schemas.microsoft.com/office/drawing/2014/main" id="{1279C17D-BC90-0BD1-5AB5-AFEEE2260364}"/>
                </a:ext>
              </a:extLst>
            </p:cNvPr>
            <p:cNvSpPr/>
            <p:nvPr/>
          </p:nvSpPr>
          <p:spPr>
            <a:xfrm>
              <a:off x="8540" y="2032"/>
              <a:ext cx="16951" cy="1106"/>
            </a:xfrm>
            <a:prstGeom prst="rect">
              <a:avLst/>
            </a:prstGeom>
            <a:gradFill>
              <a:gsLst>
                <a:gs pos="100000">
                  <a:srgbClr val="5F85C3"/>
                </a:gs>
                <a:gs pos="0">
                  <a:srgbClr val="515983"/>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sp>
        <p:nvSpPr>
          <p:cNvPr id="13" name="文本框 17">
            <a:extLst>
              <a:ext uri="{FF2B5EF4-FFF2-40B4-BE49-F238E27FC236}">
                <a16:creationId xmlns:a16="http://schemas.microsoft.com/office/drawing/2014/main" id="{831A12D7-C3D3-65E0-CE7C-E92B0A1D4F10}"/>
              </a:ext>
            </a:extLst>
          </p:cNvPr>
          <p:cNvSpPr txBox="1"/>
          <p:nvPr/>
        </p:nvSpPr>
        <p:spPr>
          <a:xfrm rot="20700000">
            <a:off x="123434" y="327464"/>
            <a:ext cx="1009650" cy="645160"/>
          </a:xfrm>
          <a:prstGeom prst="rect">
            <a:avLst/>
          </a:prstGeom>
          <a:noFill/>
          <a:ln w="9525">
            <a:noFill/>
          </a:ln>
        </p:spPr>
        <p:txBody>
          <a:bodyPr wrap="square" anchor="ctr" anchorCtr="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ctr"/>
            <a:r>
              <a:rPr lang="en-US" altLang="zh-CN" sz="3600" b="1" dirty="0">
                <a:solidFill>
                  <a:schemeClr val="bg1"/>
                </a:solidFill>
                <a:latin typeface="微软雅黑" panose="020B0503020204020204" charset="-122"/>
                <a:ea typeface="微软雅黑" panose="020B0503020204020204" charset="-122"/>
                <a:cs typeface="思源黑体 CN Normal" panose="020B0400000000000000" charset="-122"/>
              </a:rPr>
              <a:t>04</a:t>
            </a:r>
          </a:p>
        </p:txBody>
      </p:sp>
      <p:sp>
        <p:nvSpPr>
          <p:cNvPr id="14" name="文本框 3">
            <a:extLst>
              <a:ext uri="{FF2B5EF4-FFF2-40B4-BE49-F238E27FC236}">
                <a16:creationId xmlns:a16="http://schemas.microsoft.com/office/drawing/2014/main" id="{0E09A78A-3AA6-34D7-38D8-A21A06EA63F9}"/>
              </a:ext>
            </a:extLst>
          </p:cNvPr>
          <p:cNvSpPr txBox="1"/>
          <p:nvPr/>
        </p:nvSpPr>
        <p:spPr>
          <a:xfrm>
            <a:off x="1416576" y="453500"/>
            <a:ext cx="4191000" cy="58477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ctr"/>
            <a:r>
              <a:rPr lang="en-US" altLang="zh-CN" sz="3200" b="1" dirty="0">
                <a:solidFill>
                  <a:schemeClr val="bg1"/>
                </a:solidFill>
                <a:latin typeface="微软雅黑" panose="020B0503020204020204" charset="-122"/>
                <a:ea typeface="微软雅黑" panose="020B0503020204020204" charset="-122"/>
                <a:cs typeface="思源黑体 CN Normal" panose="020B0400000000000000" charset="-122"/>
                <a:sym typeface="+mn-ea"/>
              </a:rPr>
              <a:t>Experiment</a:t>
            </a:r>
            <a:endParaRPr lang="zh-CN" altLang="en-US" sz="3200" b="1" dirty="0">
              <a:solidFill>
                <a:schemeClr val="bg1"/>
              </a:solidFill>
              <a:latin typeface="微软雅黑" panose="020B0503020204020204" charset="-122"/>
              <a:ea typeface="微软雅黑" panose="020B0503020204020204" charset="-122"/>
              <a:cs typeface="思源黑体 CN Normal" panose="020B0400000000000000" charset="-122"/>
              <a:sym typeface="+mn-ea"/>
            </a:endParaRPr>
          </a:p>
        </p:txBody>
      </p:sp>
      <p:pic>
        <p:nvPicPr>
          <p:cNvPr id="2050" name="Picture 2">
            <a:extLst>
              <a:ext uri="{FF2B5EF4-FFF2-40B4-BE49-F238E27FC236}">
                <a16:creationId xmlns:a16="http://schemas.microsoft.com/office/drawing/2014/main" id="{2DA4C3AB-DFF7-49DA-91A2-6A2C4A2D9E9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72176" y="297592"/>
            <a:ext cx="1392495" cy="867988"/>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69A527C6-588D-481A-9FA5-7F23AB23C883}"/>
                  </a:ext>
                </a:extLst>
              </p:cNvPr>
              <p:cNvSpPr txBox="1"/>
              <p:nvPr/>
            </p:nvSpPr>
            <p:spPr>
              <a:xfrm>
                <a:off x="31172" y="5040096"/>
                <a:ext cx="11873015" cy="793487"/>
              </a:xfrm>
              <a:prstGeom prst="rect">
                <a:avLst/>
              </a:prstGeom>
              <a:noFill/>
            </p:spPr>
            <p:txBody>
              <a:bodyPr wrap="square">
                <a:spAutoFit/>
              </a:bodyPr>
              <a:lstStyle/>
              <a:p>
                <a:pPr marL="342900" indent="-342900">
                  <a:lnSpc>
                    <a:spcPct val="150000"/>
                  </a:lnSpc>
                  <a:buFont typeface="Arial" panose="020B0604020202020204" pitchFamily="34" charset="0"/>
                  <a:buChar char="•"/>
                </a:pPr>
                <a:r>
                  <a:rPr lang="en-US" altLang="zh-CN" sz="1600" b="1" dirty="0"/>
                  <a:t>In the UCL stage, </a:t>
                </a:r>
                <a14:m>
                  <m:oMath xmlns:m="http://schemas.openxmlformats.org/officeDocument/2006/math">
                    <m:r>
                      <a:rPr lang="en-US" altLang="zh-CN" sz="1600" b="1" i="1">
                        <a:latin typeface="Cambria Math" panose="02040503050406030204" pitchFamily="18" charset="0"/>
                      </a:rPr>
                      <m:t>𝑳</m:t>
                    </m:r>
                    <m:r>
                      <a:rPr lang="en-US" altLang="zh-CN" sz="1600" b="1" i="1" smtClean="0">
                        <a:latin typeface="Cambria Math" panose="02040503050406030204" pitchFamily="18" charset="0"/>
                      </a:rPr>
                      <m:t>𝑳𝑴</m:t>
                    </m:r>
                    <m:r>
                      <a:rPr lang="en-US" altLang="zh-CN" sz="1600" b="1" i="1">
                        <a:latin typeface="Cambria Math" panose="02040503050406030204" pitchFamily="18" charset="0"/>
                      </a:rPr>
                      <m:t>𝟐</m:t>
                    </m:r>
                    <m:r>
                      <a:rPr lang="en-US" altLang="zh-CN" sz="1600" b="1" i="1">
                        <a:latin typeface="Cambria Math" panose="02040503050406030204" pitchFamily="18" charset="0"/>
                      </a:rPr>
                      <m:t>𝑪𝒐𝒎</m:t>
                    </m:r>
                    <m:sSub>
                      <m:sSubPr>
                        <m:ctrlPr>
                          <a:rPr lang="en-US" altLang="zh-CN" sz="1600" b="1" i="1">
                            <a:latin typeface="Cambria Math" panose="02040503050406030204" pitchFamily="18" charset="0"/>
                          </a:rPr>
                        </m:ctrlPr>
                      </m:sSubPr>
                      <m:e>
                        <m:r>
                          <a:rPr lang="en-US" altLang="zh-CN" sz="1600" b="1" i="1">
                            <a:latin typeface="Cambria Math" panose="02040503050406030204" pitchFamily="18" charset="0"/>
                          </a:rPr>
                          <m:t>𝒑</m:t>
                        </m:r>
                      </m:e>
                      <m:sub>
                        <m:r>
                          <a:rPr lang="en-US" altLang="zh-CN" sz="1600" b="1" i="1" smtClean="0">
                            <a:latin typeface="Cambria Math" panose="02040503050406030204" pitchFamily="18" charset="0"/>
                          </a:rPr>
                          <m:t>𝑲𝑳</m:t>
                        </m:r>
                      </m:sub>
                    </m:sSub>
                  </m:oMath>
                </a14:m>
                <a:r>
                  <a:rPr lang="en-US" altLang="zh-CN" sz="1600" b="1" dirty="0"/>
                  <a:t> surpasses </a:t>
                </a:r>
                <a14:m>
                  <m:oMath xmlns:m="http://schemas.openxmlformats.org/officeDocument/2006/math">
                    <m:r>
                      <a:rPr lang="en-US" altLang="zh-CN" sz="1600" b="1" i="1">
                        <a:latin typeface="Cambria Math" panose="02040503050406030204" pitchFamily="18" charset="0"/>
                      </a:rPr>
                      <m:t>𝑳𝑳𝑴</m:t>
                    </m:r>
                    <m:r>
                      <a:rPr lang="en-US" altLang="zh-CN" sz="1600" b="1" i="1">
                        <a:latin typeface="Cambria Math" panose="02040503050406030204" pitchFamily="18" charset="0"/>
                      </a:rPr>
                      <m:t>𝟐</m:t>
                    </m:r>
                    <m:r>
                      <a:rPr lang="en-US" altLang="zh-CN" sz="1600" b="1" i="1" smtClean="0">
                        <a:latin typeface="Cambria Math" panose="02040503050406030204" pitchFamily="18" charset="0"/>
                      </a:rPr>
                      <m:t>𝑽𝒆𝒄</m:t>
                    </m:r>
                  </m:oMath>
                </a14:m>
                <a:r>
                  <a:rPr lang="en-US" altLang="zh-CN" sz="1600" b="1" dirty="0"/>
                  <a:t>, confirming that the </a:t>
                </a:r>
                <a:r>
                  <a:rPr lang="en-US" altLang="zh-CN" sz="1600" b="1" dirty="0">
                    <a:solidFill>
                      <a:srgbClr val="FF0000"/>
                    </a:solidFill>
                  </a:rPr>
                  <a:t>benefits</a:t>
                </a:r>
                <a:r>
                  <a:rPr lang="en-US" altLang="zh-CN" sz="1600" b="1" dirty="0"/>
                  <a:t> of our compression-based pretext task </a:t>
                </a:r>
                <a:r>
                  <a:rPr lang="en-US" altLang="zh-CN" sz="1600" b="1" dirty="0">
                    <a:solidFill>
                      <a:srgbClr val="FF0000"/>
                    </a:solidFill>
                  </a:rPr>
                  <a:t>carry over to the subsequent</a:t>
                </a:r>
                <a:r>
                  <a:rPr lang="en-US" altLang="zh-CN" sz="1600" b="1" dirty="0"/>
                  <a:t> training.</a:t>
                </a:r>
              </a:p>
            </p:txBody>
          </p:sp>
        </mc:Choice>
        <mc:Fallback xmlns="">
          <p:sp>
            <p:nvSpPr>
              <p:cNvPr id="18" name="文本框 17">
                <a:extLst>
                  <a:ext uri="{FF2B5EF4-FFF2-40B4-BE49-F238E27FC236}">
                    <a16:creationId xmlns:a16="http://schemas.microsoft.com/office/drawing/2014/main" id="{69A527C6-588D-481A-9FA5-7F23AB23C883}"/>
                  </a:ext>
                </a:extLst>
              </p:cNvPr>
              <p:cNvSpPr txBox="1">
                <a:spLocks noRot="1" noChangeAspect="1" noMove="1" noResize="1" noEditPoints="1" noAdjustHandles="1" noChangeArrowheads="1" noChangeShapeType="1" noTextEdit="1"/>
              </p:cNvSpPr>
              <p:nvPr/>
            </p:nvSpPr>
            <p:spPr>
              <a:xfrm>
                <a:off x="31172" y="5040096"/>
                <a:ext cx="11873015" cy="793487"/>
              </a:xfrm>
              <a:prstGeom prst="rect">
                <a:avLst/>
              </a:prstGeom>
              <a:blipFill>
                <a:blip r:embed="rId5"/>
                <a:stretch>
                  <a:fillRect l="-205" b="-923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文本框 18">
                <a:extLst>
                  <a:ext uri="{FF2B5EF4-FFF2-40B4-BE49-F238E27FC236}">
                    <a16:creationId xmlns:a16="http://schemas.microsoft.com/office/drawing/2014/main" id="{31B80803-4DA6-4721-8839-15E83E5A0542}"/>
                  </a:ext>
                </a:extLst>
              </p:cNvPr>
              <p:cNvSpPr txBox="1"/>
              <p:nvPr/>
            </p:nvSpPr>
            <p:spPr>
              <a:xfrm>
                <a:off x="31174" y="5877803"/>
                <a:ext cx="11873015" cy="423386"/>
              </a:xfrm>
              <a:prstGeom prst="rect">
                <a:avLst/>
              </a:prstGeom>
              <a:noFill/>
            </p:spPr>
            <p:txBody>
              <a:bodyPr wrap="square">
                <a:spAutoFit/>
              </a:bodyPr>
              <a:lstStyle/>
              <a:p>
                <a:pPr marL="342900" indent="-342900">
                  <a:lnSpc>
                    <a:spcPct val="150000"/>
                  </a:lnSpc>
                  <a:buFont typeface="Arial" panose="020B0604020202020204" pitchFamily="34" charset="0"/>
                  <a:buChar char="•"/>
                </a:pPr>
                <a:r>
                  <a:rPr lang="en-US" altLang="zh-CN" sz="1600" b="1" dirty="0"/>
                  <a:t>In the SCL stage after UCL, </a:t>
                </a:r>
                <a14:m>
                  <m:oMath xmlns:m="http://schemas.openxmlformats.org/officeDocument/2006/math">
                    <m:r>
                      <a:rPr lang="en-US" altLang="zh-CN" sz="1600" b="1" i="0" smtClean="0">
                        <a:latin typeface="Cambria Math" panose="02040503050406030204" pitchFamily="18" charset="0"/>
                      </a:rPr>
                      <m:t> </m:t>
                    </m:r>
                    <m:r>
                      <a:rPr lang="en-US" altLang="zh-CN" sz="1600" b="1" i="1">
                        <a:latin typeface="Cambria Math" panose="02040503050406030204" pitchFamily="18" charset="0"/>
                      </a:rPr>
                      <m:t>𝑳𝑳𝑴</m:t>
                    </m:r>
                    <m:r>
                      <a:rPr lang="en-US" altLang="zh-CN" sz="1600" b="1" i="1">
                        <a:latin typeface="Cambria Math" panose="02040503050406030204" pitchFamily="18" charset="0"/>
                      </a:rPr>
                      <m:t>𝟐</m:t>
                    </m:r>
                    <m:r>
                      <a:rPr lang="en-US" altLang="zh-CN" sz="1600" b="1" i="1">
                        <a:latin typeface="Cambria Math" panose="02040503050406030204" pitchFamily="18" charset="0"/>
                      </a:rPr>
                      <m:t>𝑪𝒐𝒎</m:t>
                    </m:r>
                    <m:sSub>
                      <m:sSubPr>
                        <m:ctrlPr>
                          <a:rPr lang="en-US" altLang="zh-CN" sz="1600" b="1" i="1">
                            <a:latin typeface="Cambria Math" panose="02040503050406030204" pitchFamily="18" charset="0"/>
                          </a:rPr>
                        </m:ctrlPr>
                      </m:sSubPr>
                      <m:e>
                        <m:r>
                          <a:rPr lang="en-US" altLang="zh-CN" sz="1600" b="1" i="1">
                            <a:latin typeface="Cambria Math" panose="02040503050406030204" pitchFamily="18" charset="0"/>
                          </a:rPr>
                          <m:t>𝒑</m:t>
                        </m:r>
                      </m:e>
                      <m:sub>
                        <m:r>
                          <a:rPr lang="en-US" altLang="zh-CN" sz="1600" b="1" i="1">
                            <a:latin typeface="Cambria Math" panose="02040503050406030204" pitchFamily="18" charset="0"/>
                          </a:rPr>
                          <m:t>𝑲𝑳</m:t>
                        </m:r>
                      </m:sub>
                    </m:sSub>
                  </m:oMath>
                </a14:m>
                <a:r>
                  <a:rPr lang="en-US" altLang="zh-CN" sz="1600" b="1" dirty="0"/>
                  <a:t> is </a:t>
                </a:r>
                <a:r>
                  <a:rPr lang="en-US" altLang="zh-CN" sz="1600" b="1" dirty="0">
                    <a:solidFill>
                      <a:srgbClr val="FF0000"/>
                    </a:solidFill>
                  </a:rPr>
                  <a:t>superior</a:t>
                </a:r>
                <a:r>
                  <a:rPr lang="en-US" altLang="zh-CN" sz="1600" b="1" dirty="0"/>
                  <a:t> to </a:t>
                </a:r>
                <a14:m>
                  <m:oMath xmlns:m="http://schemas.openxmlformats.org/officeDocument/2006/math">
                    <m:r>
                      <a:rPr lang="en-US" altLang="zh-CN" sz="1600" b="1" i="1">
                        <a:latin typeface="Cambria Math" panose="02040503050406030204" pitchFamily="18" charset="0"/>
                      </a:rPr>
                      <m:t>𝑳𝑳𝑴</m:t>
                    </m:r>
                    <m:r>
                      <a:rPr lang="en-US" altLang="zh-CN" sz="1600" b="1" i="1">
                        <a:latin typeface="Cambria Math" panose="02040503050406030204" pitchFamily="18" charset="0"/>
                      </a:rPr>
                      <m:t>𝟐</m:t>
                    </m:r>
                    <m:r>
                      <a:rPr lang="en-US" altLang="zh-CN" sz="1600" b="1" i="1">
                        <a:latin typeface="Cambria Math" panose="02040503050406030204" pitchFamily="18" charset="0"/>
                      </a:rPr>
                      <m:t>𝑽𝒆𝒄</m:t>
                    </m:r>
                  </m:oMath>
                </a14:m>
                <a:r>
                  <a:rPr lang="en-US" altLang="zh-CN" sz="1600" b="1" dirty="0"/>
                  <a:t>, and other contemporary models. </a:t>
                </a:r>
              </a:p>
            </p:txBody>
          </p:sp>
        </mc:Choice>
        <mc:Fallback xmlns="">
          <p:sp>
            <p:nvSpPr>
              <p:cNvPr id="19" name="文本框 18">
                <a:extLst>
                  <a:ext uri="{FF2B5EF4-FFF2-40B4-BE49-F238E27FC236}">
                    <a16:creationId xmlns:a16="http://schemas.microsoft.com/office/drawing/2014/main" id="{31B80803-4DA6-4721-8839-15E83E5A0542}"/>
                  </a:ext>
                </a:extLst>
              </p:cNvPr>
              <p:cNvSpPr txBox="1">
                <a:spLocks noRot="1" noChangeAspect="1" noMove="1" noResize="1" noEditPoints="1" noAdjustHandles="1" noChangeArrowheads="1" noChangeShapeType="1" noTextEdit="1"/>
              </p:cNvSpPr>
              <p:nvPr/>
            </p:nvSpPr>
            <p:spPr>
              <a:xfrm>
                <a:off x="31174" y="5877803"/>
                <a:ext cx="11873015" cy="423386"/>
              </a:xfrm>
              <a:prstGeom prst="rect">
                <a:avLst/>
              </a:prstGeom>
              <a:blipFill>
                <a:blip r:embed="rId6"/>
                <a:stretch>
                  <a:fillRect l="-205" b="-1714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 name="文本框 19">
                <a:extLst>
                  <a:ext uri="{FF2B5EF4-FFF2-40B4-BE49-F238E27FC236}">
                    <a16:creationId xmlns:a16="http://schemas.microsoft.com/office/drawing/2014/main" id="{9A978766-DF5A-4642-964D-BDFE1CAF7005}"/>
                  </a:ext>
                </a:extLst>
              </p:cNvPr>
              <p:cNvSpPr txBox="1"/>
              <p:nvPr/>
            </p:nvSpPr>
            <p:spPr>
              <a:xfrm>
                <a:off x="31173" y="6338265"/>
                <a:ext cx="11873015" cy="423386"/>
              </a:xfrm>
              <a:prstGeom prst="rect">
                <a:avLst/>
              </a:prstGeom>
              <a:noFill/>
            </p:spPr>
            <p:txBody>
              <a:bodyPr wrap="square">
                <a:spAutoFit/>
              </a:bodyPr>
              <a:lstStyle/>
              <a:p>
                <a:pPr marL="342900" indent="-342900">
                  <a:lnSpc>
                    <a:spcPct val="150000"/>
                  </a:lnSpc>
                  <a:buFont typeface="Arial" panose="020B0604020202020204" pitchFamily="34" charset="0"/>
                  <a:buChar char="•"/>
                </a:pPr>
                <a14:m>
                  <m:oMath xmlns:m="http://schemas.openxmlformats.org/officeDocument/2006/math">
                    <m:r>
                      <a:rPr lang="en-US" altLang="zh-CN" sz="1600" b="1" i="1" smtClean="0">
                        <a:latin typeface="Cambria Math" panose="02040503050406030204" pitchFamily="18" charset="0"/>
                      </a:rPr>
                      <m:t>𝑳𝑳𝑴</m:t>
                    </m:r>
                    <m:r>
                      <a:rPr lang="en-US" altLang="zh-CN" sz="1600" b="1" i="1" smtClean="0">
                        <a:latin typeface="Cambria Math" panose="02040503050406030204" pitchFamily="18" charset="0"/>
                      </a:rPr>
                      <m:t>𝟐</m:t>
                    </m:r>
                    <m:r>
                      <a:rPr lang="en-US" altLang="zh-CN" sz="1600" b="1" i="1" smtClean="0">
                        <a:latin typeface="Cambria Math" panose="02040503050406030204" pitchFamily="18" charset="0"/>
                      </a:rPr>
                      <m:t>𝑪𝒐𝒎</m:t>
                    </m:r>
                    <m:sSub>
                      <m:sSubPr>
                        <m:ctrlPr>
                          <a:rPr lang="en-US" altLang="zh-CN" sz="1600" b="1" i="1">
                            <a:latin typeface="Cambria Math" panose="02040503050406030204" pitchFamily="18" charset="0"/>
                          </a:rPr>
                        </m:ctrlPr>
                      </m:sSubPr>
                      <m:e>
                        <m:r>
                          <a:rPr lang="en-US" altLang="zh-CN" sz="1600" b="1" i="1">
                            <a:latin typeface="Cambria Math" panose="02040503050406030204" pitchFamily="18" charset="0"/>
                          </a:rPr>
                          <m:t>𝒑</m:t>
                        </m:r>
                      </m:e>
                      <m:sub>
                        <m:r>
                          <a:rPr lang="en-US" altLang="zh-CN" sz="1600" b="1" i="1">
                            <a:latin typeface="Cambria Math" panose="02040503050406030204" pitchFamily="18" charset="0"/>
                          </a:rPr>
                          <m:t>𝑲𝑳</m:t>
                        </m:r>
                      </m:sub>
                    </m:sSub>
                  </m:oMath>
                </a14:m>
                <a:r>
                  <a:rPr lang="en-US" altLang="zh-CN" sz="1600" b="1" dirty="0"/>
                  <a:t> achieves this using a much </a:t>
                </a:r>
                <a:r>
                  <a:rPr lang="en-US" altLang="zh-CN" sz="1600" b="1" dirty="0">
                    <a:solidFill>
                      <a:srgbClr val="FF0000"/>
                    </a:solidFill>
                  </a:rPr>
                  <a:t>smaller</a:t>
                </a:r>
                <a:r>
                  <a:rPr lang="en-US" altLang="zh-CN" sz="1600" b="1" dirty="0"/>
                  <a:t> </a:t>
                </a:r>
                <a:r>
                  <a:rPr lang="en-US" altLang="zh-CN" sz="1600" b="1" dirty="0">
                    <a:solidFill>
                      <a:srgbClr val="FF0000"/>
                    </a:solidFill>
                  </a:rPr>
                  <a:t>amount</a:t>
                </a:r>
                <a:r>
                  <a:rPr lang="en-US" altLang="zh-CN" sz="1600" b="1" dirty="0"/>
                  <a:t> of supervised data compared to </a:t>
                </a:r>
                <a14:m>
                  <m:oMath xmlns:m="http://schemas.openxmlformats.org/officeDocument/2006/math">
                    <m:r>
                      <a:rPr lang="en-US" altLang="zh-CN" sz="1600" b="1" i="1">
                        <a:latin typeface="Cambria Math" panose="02040503050406030204" pitchFamily="18" charset="0"/>
                      </a:rPr>
                      <m:t>𝑳𝑳𝑴</m:t>
                    </m:r>
                    <m:r>
                      <a:rPr lang="en-US" altLang="zh-CN" sz="1600" b="1" i="1">
                        <a:latin typeface="Cambria Math" panose="02040503050406030204" pitchFamily="18" charset="0"/>
                      </a:rPr>
                      <m:t>𝟐</m:t>
                    </m:r>
                    <m:r>
                      <a:rPr lang="en-US" altLang="zh-CN" sz="1600" b="1" i="1" smtClean="0">
                        <a:latin typeface="Cambria Math" panose="02040503050406030204" pitchFamily="18" charset="0"/>
                      </a:rPr>
                      <m:t>𝑽𝒆𝒄</m:t>
                    </m:r>
                  </m:oMath>
                </a14:m>
                <a:r>
                  <a:rPr lang="en-US" altLang="zh-CN" sz="1600" b="1" dirty="0"/>
                  <a:t>.</a:t>
                </a:r>
              </a:p>
            </p:txBody>
          </p:sp>
        </mc:Choice>
        <mc:Fallback xmlns="">
          <p:sp>
            <p:nvSpPr>
              <p:cNvPr id="20" name="文本框 19">
                <a:extLst>
                  <a:ext uri="{FF2B5EF4-FFF2-40B4-BE49-F238E27FC236}">
                    <a16:creationId xmlns:a16="http://schemas.microsoft.com/office/drawing/2014/main" id="{9A978766-DF5A-4642-964D-BDFE1CAF7005}"/>
                  </a:ext>
                </a:extLst>
              </p:cNvPr>
              <p:cNvSpPr txBox="1">
                <a:spLocks noRot="1" noChangeAspect="1" noMove="1" noResize="1" noEditPoints="1" noAdjustHandles="1" noChangeArrowheads="1" noChangeShapeType="1" noTextEdit="1"/>
              </p:cNvSpPr>
              <p:nvPr/>
            </p:nvSpPr>
            <p:spPr>
              <a:xfrm>
                <a:off x="31173" y="6338265"/>
                <a:ext cx="11873015" cy="423386"/>
              </a:xfrm>
              <a:prstGeom prst="rect">
                <a:avLst/>
              </a:prstGeom>
              <a:blipFill>
                <a:blip r:embed="rId7"/>
                <a:stretch>
                  <a:fillRect l="-205" b="-18841"/>
                </a:stretch>
              </a:blipFill>
            </p:spPr>
            <p:txBody>
              <a:bodyPr/>
              <a:lstStyle/>
              <a:p>
                <a:r>
                  <a:rPr lang="zh-CN" altLang="en-US">
                    <a:noFill/>
                  </a:rPr>
                  <a:t> </a:t>
                </a:r>
              </a:p>
            </p:txBody>
          </p:sp>
        </mc:Fallback>
      </mc:AlternateContent>
      <p:sp>
        <p:nvSpPr>
          <p:cNvPr id="21" name="矩形 20">
            <a:extLst>
              <a:ext uri="{FF2B5EF4-FFF2-40B4-BE49-F238E27FC236}">
                <a16:creationId xmlns:a16="http://schemas.microsoft.com/office/drawing/2014/main" id="{7116DA28-F441-4E32-86F9-C78BD49F6D3D}"/>
              </a:ext>
            </a:extLst>
          </p:cNvPr>
          <p:cNvSpPr/>
          <p:nvPr/>
        </p:nvSpPr>
        <p:spPr>
          <a:xfrm>
            <a:off x="31174" y="2655392"/>
            <a:ext cx="12033498" cy="14733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a:extLst>
              <a:ext uri="{FF2B5EF4-FFF2-40B4-BE49-F238E27FC236}">
                <a16:creationId xmlns:a16="http://schemas.microsoft.com/office/drawing/2014/main" id="{F40347FE-50F4-4ED4-97FC-8A1F53B70A55}"/>
              </a:ext>
            </a:extLst>
          </p:cNvPr>
          <p:cNvSpPr/>
          <p:nvPr/>
        </p:nvSpPr>
        <p:spPr>
          <a:xfrm>
            <a:off x="41565" y="4486276"/>
            <a:ext cx="12033498" cy="16844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a:extLst>
              <a:ext uri="{FF2B5EF4-FFF2-40B4-BE49-F238E27FC236}">
                <a16:creationId xmlns:a16="http://schemas.microsoft.com/office/drawing/2014/main" id="{6FC9373A-49D9-4328-ACE2-A87D1A06BE62}"/>
              </a:ext>
            </a:extLst>
          </p:cNvPr>
          <p:cNvSpPr/>
          <p:nvPr/>
        </p:nvSpPr>
        <p:spPr>
          <a:xfrm>
            <a:off x="1126070" y="3307412"/>
            <a:ext cx="505303" cy="162717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5653291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barn(inVertical)">
                                      <p:cBhvr>
                                        <p:cTn id="7" dur="500"/>
                                        <p:tgtEl>
                                          <p:spTgt spid="21"/>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barn(inVertical)">
                                      <p:cBhvr>
                                        <p:cTn id="10" dur="500"/>
                                        <p:tgtEl>
                                          <p:spTgt spid="18"/>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1" nodeType="clickEffect">
                                  <p:stCondLst>
                                    <p:cond delay="0"/>
                                  </p:stCondLst>
                                  <p:childTnLst>
                                    <p:set>
                                      <p:cBhvr>
                                        <p:cTn id="14" dur="1" fill="hold">
                                          <p:stCondLst>
                                            <p:cond delay="0"/>
                                          </p:stCondLst>
                                        </p:cTn>
                                        <p:tgtEl>
                                          <p:spTgt spid="21"/>
                                        </p:tgtEl>
                                        <p:attrNameLst>
                                          <p:attrName>style.visibility</p:attrName>
                                        </p:attrNameLst>
                                      </p:cBhvr>
                                      <p:to>
                                        <p:strVal val="hidden"/>
                                      </p:to>
                                    </p:set>
                                  </p:childTnLst>
                                </p:cTn>
                              </p:par>
                              <p:par>
                                <p:cTn id="15" presetID="16" presetClass="entr" presetSubtype="21" fill="hold" grpId="0" nodeType="with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barn(inVertical)">
                                      <p:cBhvr>
                                        <p:cTn id="17" dur="500"/>
                                        <p:tgtEl>
                                          <p:spTgt spid="19"/>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22"/>
                                        </p:tgtEl>
                                        <p:attrNameLst>
                                          <p:attrName>style.visibility</p:attrName>
                                        </p:attrNameLst>
                                      </p:cBhvr>
                                      <p:to>
                                        <p:strVal val="visible"/>
                                      </p:to>
                                    </p:set>
                                    <p:animEffect transition="in" filter="barn(inVertical)">
                                      <p:cBhvr>
                                        <p:cTn id="22" dur="500"/>
                                        <p:tgtEl>
                                          <p:spTgt spid="22"/>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grpId="1" nodeType="clickEffect">
                                  <p:stCondLst>
                                    <p:cond delay="0"/>
                                  </p:stCondLst>
                                  <p:childTnLst>
                                    <p:set>
                                      <p:cBhvr>
                                        <p:cTn id="26" dur="1" fill="hold">
                                          <p:stCondLst>
                                            <p:cond delay="0"/>
                                          </p:stCondLst>
                                        </p:cTn>
                                        <p:tgtEl>
                                          <p:spTgt spid="22"/>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16" presetClass="entr" presetSubtype="21" fill="hold" grpId="0" nodeType="clickEffect">
                                  <p:stCondLst>
                                    <p:cond delay="0"/>
                                  </p:stCondLst>
                                  <p:childTnLst>
                                    <p:set>
                                      <p:cBhvr>
                                        <p:cTn id="30" dur="1" fill="hold">
                                          <p:stCondLst>
                                            <p:cond delay="0"/>
                                          </p:stCondLst>
                                        </p:cTn>
                                        <p:tgtEl>
                                          <p:spTgt spid="23"/>
                                        </p:tgtEl>
                                        <p:attrNameLst>
                                          <p:attrName>style.visibility</p:attrName>
                                        </p:attrNameLst>
                                      </p:cBhvr>
                                      <p:to>
                                        <p:strVal val="visible"/>
                                      </p:to>
                                    </p:set>
                                    <p:animEffect transition="in" filter="barn(inVertical)">
                                      <p:cBhvr>
                                        <p:cTn id="31" dur="500"/>
                                        <p:tgtEl>
                                          <p:spTgt spid="23"/>
                                        </p:tgtEl>
                                      </p:cBhvr>
                                    </p:animEffect>
                                  </p:childTnLst>
                                </p:cTn>
                              </p:par>
                              <p:par>
                                <p:cTn id="32" presetID="16" presetClass="entr" presetSubtype="21" fill="hold" grpId="0" nodeType="withEffect">
                                  <p:stCondLst>
                                    <p:cond delay="0"/>
                                  </p:stCondLst>
                                  <p:childTnLst>
                                    <p:set>
                                      <p:cBhvr>
                                        <p:cTn id="33" dur="1" fill="hold">
                                          <p:stCondLst>
                                            <p:cond delay="0"/>
                                          </p:stCondLst>
                                        </p:cTn>
                                        <p:tgtEl>
                                          <p:spTgt spid="20"/>
                                        </p:tgtEl>
                                        <p:attrNameLst>
                                          <p:attrName>style.visibility</p:attrName>
                                        </p:attrNameLst>
                                      </p:cBhvr>
                                      <p:to>
                                        <p:strVal val="visible"/>
                                      </p:to>
                                    </p:set>
                                    <p:animEffect transition="in" filter="barn(inVertical)">
                                      <p:cBhvr>
                                        <p:cTn id="34" dur="500"/>
                                        <p:tgtEl>
                                          <p:spTgt spid="20"/>
                                        </p:tgtEl>
                                      </p:cBhvr>
                                    </p:animEffect>
                                  </p:childTnLst>
                                </p:cTn>
                              </p:par>
                            </p:childTnLst>
                          </p:cTn>
                        </p:par>
                      </p:childTnLst>
                    </p:cTn>
                  </p:par>
                  <p:par>
                    <p:cTn id="35" fill="hold">
                      <p:stCondLst>
                        <p:cond delay="indefinite"/>
                      </p:stCondLst>
                      <p:childTnLst>
                        <p:par>
                          <p:cTn id="36" fill="hold">
                            <p:stCondLst>
                              <p:cond delay="0"/>
                            </p:stCondLst>
                            <p:childTnLst>
                              <p:par>
                                <p:cTn id="37" presetID="1" presetClass="exit" presetSubtype="0" fill="hold" grpId="1" nodeType="clickEffect">
                                  <p:stCondLst>
                                    <p:cond delay="0"/>
                                  </p:stCondLst>
                                  <p:childTnLst>
                                    <p:set>
                                      <p:cBhvr>
                                        <p:cTn id="38" dur="1" fill="hold">
                                          <p:stCondLst>
                                            <p:cond delay="0"/>
                                          </p:stCondLst>
                                        </p:cTn>
                                        <p:tgtEl>
                                          <p:spTgt spid="2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9" grpId="0"/>
      <p:bldP spid="20" grpId="0"/>
      <p:bldP spid="21" grpId="0" animBg="1"/>
      <p:bldP spid="21" grpId="1" animBg="1"/>
      <p:bldP spid="22" grpId="0" animBg="1"/>
      <p:bldP spid="22" grpId="1" animBg="1"/>
      <p:bldP spid="23" grpId="0" animBg="1"/>
      <p:bldP spid="23" grpId="1"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a:extLst>
              <a:ext uri="{FF2B5EF4-FFF2-40B4-BE49-F238E27FC236}">
                <a16:creationId xmlns:a16="http://schemas.microsoft.com/office/drawing/2014/main" id="{F52E74E9-BEC3-4C0C-8229-B781E9905A5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2382726"/>
            <a:ext cx="3041439" cy="2433152"/>
          </a:xfrm>
          <a:prstGeom prst="rect">
            <a:avLst/>
          </a:prstGeom>
        </p:spPr>
      </p:pic>
      <p:sp>
        <p:nvSpPr>
          <p:cNvPr id="11" name="椭圆 10">
            <a:extLst>
              <a:ext uri="{FF2B5EF4-FFF2-40B4-BE49-F238E27FC236}">
                <a16:creationId xmlns:a16="http://schemas.microsoft.com/office/drawing/2014/main" id="{8E289B97-3EA5-028E-444A-8EB3690D5F5D}"/>
              </a:ext>
            </a:extLst>
          </p:cNvPr>
          <p:cNvSpPr/>
          <p:nvPr/>
        </p:nvSpPr>
        <p:spPr>
          <a:xfrm>
            <a:off x="-217832" y="-426322"/>
            <a:ext cx="2344420" cy="2344420"/>
          </a:xfrm>
          <a:prstGeom prst="ellipse">
            <a:avLst/>
          </a:prstGeom>
          <a:solidFill>
            <a:srgbClr val="A6B1C6">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lt1"/>
              </a:solidFill>
              <a:cs typeface="思源黑体 CN Normal" panose="020B0400000000000000" charset="-122"/>
            </a:endParaRPr>
          </a:p>
        </p:txBody>
      </p:sp>
      <p:grpSp>
        <p:nvGrpSpPr>
          <p:cNvPr id="12" name="组合 11">
            <a:extLst>
              <a:ext uri="{FF2B5EF4-FFF2-40B4-BE49-F238E27FC236}">
                <a16:creationId xmlns:a16="http://schemas.microsoft.com/office/drawing/2014/main" id="{D7ACDA95-F13B-2F0F-BEC1-8641B80CDE83}"/>
              </a:ext>
            </a:extLst>
          </p:cNvPr>
          <p:cNvGrpSpPr/>
          <p:nvPr/>
        </p:nvGrpSpPr>
        <p:grpSpPr>
          <a:xfrm>
            <a:off x="-121136" y="7448"/>
            <a:ext cx="12313136" cy="1198477"/>
            <a:chOff x="6121" y="1678"/>
            <a:chExt cx="19370" cy="1470"/>
          </a:xfrm>
        </p:grpSpPr>
        <p:sp>
          <p:nvSpPr>
            <p:cNvPr id="15" name="平行四边形 14">
              <a:extLst>
                <a:ext uri="{FF2B5EF4-FFF2-40B4-BE49-F238E27FC236}">
                  <a16:creationId xmlns:a16="http://schemas.microsoft.com/office/drawing/2014/main" id="{53D7386B-8F06-7F51-62BF-1D778A964F11}"/>
                </a:ext>
              </a:extLst>
            </p:cNvPr>
            <p:cNvSpPr/>
            <p:nvPr/>
          </p:nvSpPr>
          <p:spPr>
            <a:xfrm rot="16200000">
              <a:off x="7584" y="2177"/>
              <a:ext cx="1470" cy="472"/>
            </a:xfrm>
            <a:prstGeom prst="parallelogram">
              <a:avLst>
                <a:gd name="adj" fmla="val 76588"/>
              </a:avLst>
            </a:prstGeom>
            <a:solidFill>
              <a:srgbClr val="515983"/>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6" name="平行四边形 15">
              <a:extLst>
                <a:ext uri="{FF2B5EF4-FFF2-40B4-BE49-F238E27FC236}">
                  <a16:creationId xmlns:a16="http://schemas.microsoft.com/office/drawing/2014/main" id="{CA87F104-0887-07B3-BE33-5B8FEA5FD472}"/>
                </a:ext>
              </a:extLst>
            </p:cNvPr>
            <p:cNvSpPr/>
            <p:nvPr/>
          </p:nvSpPr>
          <p:spPr>
            <a:xfrm rot="20760000">
              <a:off x="6121" y="1913"/>
              <a:ext cx="2130" cy="1064"/>
            </a:xfrm>
            <a:prstGeom prst="parallelogram">
              <a:avLst/>
            </a:prstGeom>
            <a:gradFill>
              <a:gsLst>
                <a:gs pos="100000">
                  <a:srgbClr val="515983"/>
                </a:gs>
                <a:gs pos="0">
                  <a:srgbClr val="515983">
                    <a:alpha val="51000"/>
                  </a:srgbClr>
                </a:gs>
              </a:gsLst>
              <a:lin ang="162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7" name="矩形 16">
              <a:extLst>
                <a:ext uri="{FF2B5EF4-FFF2-40B4-BE49-F238E27FC236}">
                  <a16:creationId xmlns:a16="http://schemas.microsoft.com/office/drawing/2014/main" id="{1279C17D-BC90-0BD1-5AB5-AFEEE2260364}"/>
                </a:ext>
              </a:extLst>
            </p:cNvPr>
            <p:cNvSpPr/>
            <p:nvPr/>
          </p:nvSpPr>
          <p:spPr>
            <a:xfrm>
              <a:off x="8540" y="2032"/>
              <a:ext cx="16951" cy="1106"/>
            </a:xfrm>
            <a:prstGeom prst="rect">
              <a:avLst/>
            </a:prstGeom>
            <a:gradFill>
              <a:gsLst>
                <a:gs pos="100000">
                  <a:srgbClr val="5F85C3"/>
                </a:gs>
                <a:gs pos="0">
                  <a:srgbClr val="515983"/>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sp>
        <p:nvSpPr>
          <p:cNvPr id="13" name="文本框 17">
            <a:extLst>
              <a:ext uri="{FF2B5EF4-FFF2-40B4-BE49-F238E27FC236}">
                <a16:creationId xmlns:a16="http://schemas.microsoft.com/office/drawing/2014/main" id="{831A12D7-C3D3-65E0-CE7C-E92B0A1D4F10}"/>
              </a:ext>
            </a:extLst>
          </p:cNvPr>
          <p:cNvSpPr txBox="1"/>
          <p:nvPr/>
        </p:nvSpPr>
        <p:spPr>
          <a:xfrm rot="20700000">
            <a:off x="123434" y="327464"/>
            <a:ext cx="1009650" cy="645160"/>
          </a:xfrm>
          <a:prstGeom prst="rect">
            <a:avLst/>
          </a:prstGeom>
          <a:noFill/>
          <a:ln w="9525">
            <a:noFill/>
          </a:ln>
        </p:spPr>
        <p:txBody>
          <a:bodyPr wrap="square" anchor="ctr" anchorCtr="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ctr"/>
            <a:r>
              <a:rPr lang="en-US" altLang="zh-CN" sz="3600" b="1" dirty="0">
                <a:solidFill>
                  <a:schemeClr val="bg1"/>
                </a:solidFill>
                <a:latin typeface="微软雅黑" panose="020B0503020204020204" charset="-122"/>
                <a:ea typeface="微软雅黑" panose="020B0503020204020204" charset="-122"/>
                <a:cs typeface="思源黑体 CN Normal" panose="020B0400000000000000" charset="-122"/>
              </a:rPr>
              <a:t>05</a:t>
            </a:r>
          </a:p>
        </p:txBody>
      </p:sp>
      <p:sp>
        <p:nvSpPr>
          <p:cNvPr id="14" name="文本框 3">
            <a:extLst>
              <a:ext uri="{FF2B5EF4-FFF2-40B4-BE49-F238E27FC236}">
                <a16:creationId xmlns:a16="http://schemas.microsoft.com/office/drawing/2014/main" id="{0E09A78A-3AA6-34D7-38D8-A21A06EA63F9}"/>
              </a:ext>
            </a:extLst>
          </p:cNvPr>
          <p:cNvSpPr txBox="1"/>
          <p:nvPr/>
        </p:nvSpPr>
        <p:spPr>
          <a:xfrm>
            <a:off x="1416575" y="453500"/>
            <a:ext cx="4458125" cy="58477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ctr"/>
            <a:r>
              <a:rPr lang="en-US" altLang="zh-CN" sz="3200" b="1" dirty="0">
                <a:solidFill>
                  <a:schemeClr val="bg1"/>
                </a:solidFill>
                <a:latin typeface="微软雅黑" panose="020B0503020204020204" charset="-122"/>
                <a:ea typeface="微软雅黑" panose="020B0503020204020204" charset="-122"/>
                <a:cs typeface="思源黑体 CN Normal" panose="020B0400000000000000" charset="-122"/>
                <a:sym typeface="+mn-ea"/>
              </a:rPr>
              <a:t>Dimension Collapse</a:t>
            </a:r>
            <a:endParaRPr lang="zh-CN" altLang="en-US" sz="3200" b="1" dirty="0">
              <a:solidFill>
                <a:schemeClr val="bg1"/>
              </a:solidFill>
              <a:latin typeface="微软雅黑" panose="020B0503020204020204" charset="-122"/>
              <a:ea typeface="微软雅黑" panose="020B0503020204020204" charset="-122"/>
              <a:cs typeface="思源黑体 CN Normal" panose="020B0400000000000000" charset="-122"/>
              <a:sym typeface="+mn-ea"/>
            </a:endParaRPr>
          </a:p>
        </p:txBody>
      </p:sp>
      <p:pic>
        <p:nvPicPr>
          <p:cNvPr id="2050" name="Picture 2">
            <a:extLst>
              <a:ext uri="{FF2B5EF4-FFF2-40B4-BE49-F238E27FC236}">
                <a16:creationId xmlns:a16="http://schemas.microsoft.com/office/drawing/2014/main" id="{2DA4C3AB-DFF7-49DA-91A2-6A2C4A2D9E9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72176" y="297592"/>
            <a:ext cx="1392495" cy="867988"/>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3" name="图片 2">
            <a:extLst>
              <a:ext uri="{FF2B5EF4-FFF2-40B4-BE49-F238E27FC236}">
                <a16:creationId xmlns:a16="http://schemas.microsoft.com/office/drawing/2014/main" id="{ECAB182A-39F2-4787-AADF-6B78BFAF325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32435" y="2351867"/>
            <a:ext cx="4535697" cy="2721418"/>
          </a:xfrm>
          <a:prstGeom prst="rect">
            <a:avLst/>
          </a:prstGeom>
        </p:spPr>
      </p:pic>
      <p:sp>
        <p:nvSpPr>
          <p:cNvPr id="20" name="文本框 19">
            <a:extLst>
              <a:ext uri="{FF2B5EF4-FFF2-40B4-BE49-F238E27FC236}">
                <a16:creationId xmlns:a16="http://schemas.microsoft.com/office/drawing/2014/main" id="{AF51087C-EE03-4284-9FE9-5AE1AF736FA3}"/>
              </a:ext>
            </a:extLst>
          </p:cNvPr>
          <p:cNvSpPr txBox="1"/>
          <p:nvPr/>
        </p:nvSpPr>
        <p:spPr>
          <a:xfrm>
            <a:off x="628259" y="1605583"/>
            <a:ext cx="4535696" cy="369332"/>
          </a:xfrm>
          <a:prstGeom prst="rect">
            <a:avLst/>
          </a:prstGeom>
          <a:noFill/>
        </p:spPr>
        <p:txBody>
          <a:bodyPr wrap="square">
            <a:spAutoFit/>
          </a:bodyPr>
          <a:lstStyle/>
          <a:p>
            <a:r>
              <a:rPr lang="en-US" altLang="zh-CN" sz="1800" b="1" dirty="0">
                <a:latin typeface="+mn-ea"/>
                <a:cs typeface="Open Sans" panose="020B0606030504020204" pitchFamily="34" charset="0"/>
              </a:rPr>
              <a:t>Effective Dimension After </a:t>
            </a:r>
            <a:r>
              <a:rPr lang="en-US" altLang="zh-CN" sz="1800" b="1" dirty="0" err="1">
                <a:latin typeface="+mn-ea"/>
                <a:cs typeface="Open Sans" panose="020B0606030504020204" pitchFamily="34" charset="0"/>
              </a:rPr>
              <a:t>Meanpooling</a:t>
            </a:r>
            <a:endParaRPr lang="en-US" altLang="zh-CN" sz="1800" b="1" dirty="0">
              <a:latin typeface="+mn-ea"/>
              <a:cs typeface="Open Sans" panose="020B0606030504020204" pitchFamily="34" charset="0"/>
            </a:endParaRPr>
          </a:p>
        </p:txBody>
      </p:sp>
      <p:sp>
        <p:nvSpPr>
          <p:cNvPr id="21" name="文本框 20">
            <a:extLst>
              <a:ext uri="{FF2B5EF4-FFF2-40B4-BE49-F238E27FC236}">
                <a16:creationId xmlns:a16="http://schemas.microsoft.com/office/drawing/2014/main" id="{D14D3180-1059-4E9B-ADD5-20DD81BAE9AC}"/>
              </a:ext>
            </a:extLst>
          </p:cNvPr>
          <p:cNvSpPr txBox="1"/>
          <p:nvPr/>
        </p:nvSpPr>
        <p:spPr>
          <a:xfrm>
            <a:off x="6136479" y="1605583"/>
            <a:ext cx="4535696" cy="369332"/>
          </a:xfrm>
          <a:prstGeom prst="rect">
            <a:avLst/>
          </a:prstGeom>
          <a:noFill/>
        </p:spPr>
        <p:txBody>
          <a:bodyPr wrap="square">
            <a:spAutoFit/>
          </a:bodyPr>
          <a:lstStyle/>
          <a:p>
            <a:r>
              <a:rPr lang="en-US" altLang="zh-CN" sz="1800" b="1" dirty="0">
                <a:latin typeface="+mn-ea"/>
                <a:cs typeface="Open Sans" panose="020B0606030504020204" pitchFamily="34" charset="0"/>
              </a:rPr>
              <a:t>Effective Dimension Before </a:t>
            </a:r>
            <a:r>
              <a:rPr lang="en-US" altLang="zh-CN" sz="1800" b="1" dirty="0" err="1">
                <a:latin typeface="+mn-ea"/>
                <a:cs typeface="Open Sans" panose="020B0606030504020204" pitchFamily="34" charset="0"/>
              </a:rPr>
              <a:t>Meanpooling</a:t>
            </a:r>
            <a:endParaRPr lang="en-US" altLang="zh-CN" sz="1800" b="1" dirty="0">
              <a:latin typeface="+mn-ea"/>
              <a:cs typeface="Open Sans" panose="020B0606030504020204" pitchFamily="34" charset="0"/>
            </a:endParaRPr>
          </a:p>
        </p:txBody>
      </p:sp>
      <p:pic>
        <p:nvPicPr>
          <p:cNvPr id="6" name="图片 5">
            <a:extLst>
              <a:ext uri="{FF2B5EF4-FFF2-40B4-BE49-F238E27FC236}">
                <a16:creationId xmlns:a16="http://schemas.microsoft.com/office/drawing/2014/main" id="{2CCEC46F-3937-4995-BD8B-1CA2C07DE1A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151455" y="2373327"/>
            <a:ext cx="3041439" cy="2433151"/>
          </a:xfrm>
          <a:prstGeom prst="rect">
            <a:avLst/>
          </a:prstGeom>
        </p:spPr>
      </p:pic>
      <p:cxnSp>
        <p:nvCxnSpPr>
          <p:cNvPr id="22" name="直接连接符 21">
            <a:extLst>
              <a:ext uri="{FF2B5EF4-FFF2-40B4-BE49-F238E27FC236}">
                <a16:creationId xmlns:a16="http://schemas.microsoft.com/office/drawing/2014/main" id="{0AB12B69-71BE-40F5-93EB-82EFC88C357F}"/>
              </a:ext>
            </a:extLst>
          </p:cNvPr>
          <p:cNvCxnSpPr>
            <a:cxnSpLocks/>
          </p:cNvCxnSpPr>
          <p:nvPr/>
        </p:nvCxnSpPr>
        <p:spPr>
          <a:xfrm>
            <a:off x="5874702" y="1206563"/>
            <a:ext cx="0" cy="5651437"/>
          </a:xfrm>
          <a:prstGeom prst="line">
            <a:avLst/>
          </a:prstGeom>
          <a:ln w="19050">
            <a:solidFill>
              <a:schemeClr val="bg1">
                <a:lumMod val="65000"/>
              </a:schemeClr>
            </a:solidFill>
            <a:prstDash val="dashDot"/>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9000A202-BA27-4983-B583-00000E4A9DAE}"/>
                  </a:ext>
                </a:extLst>
              </p:cNvPr>
              <p:cNvSpPr txBox="1"/>
              <p:nvPr/>
            </p:nvSpPr>
            <p:spPr>
              <a:xfrm>
                <a:off x="661189" y="5260481"/>
                <a:ext cx="4858140" cy="1077218"/>
              </a:xfrm>
              <a:prstGeom prst="rect">
                <a:avLst/>
              </a:prstGeom>
              <a:noFill/>
            </p:spPr>
            <p:txBody>
              <a:bodyPr wrap="square">
                <a:spAutoFit/>
              </a:bodyPr>
              <a:lstStyle/>
              <a:p>
                <a:r>
                  <a:rPr lang="en-US" altLang="zh-CN" sz="1600" b="1" dirty="0"/>
                  <a:t>The curve corresponding to </a:t>
                </a:r>
                <a14:m>
                  <m:oMath xmlns:m="http://schemas.openxmlformats.org/officeDocument/2006/math">
                    <m:r>
                      <a:rPr lang="en-US" altLang="zh-CN" sz="1600" b="1" i="1" smtClean="0">
                        <a:latin typeface="Cambria Math" panose="02040503050406030204" pitchFamily="18" charset="0"/>
                      </a:rPr>
                      <m:t>𝑳𝑳𝑴</m:t>
                    </m:r>
                    <m:r>
                      <a:rPr lang="en-US" altLang="zh-CN" sz="1600" b="1" i="1">
                        <a:latin typeface="Cambria Math" panose="02040503050406030204" pitchFamily="18" charset="0"/>
                      </a:rPr>
                      <m:t>𝟐</m:t>
                    </m:r>
                    <m:r>
                      <a:rPr lang="en-US" altLang="zh-CN" sz="1600" b="1" i="1">
                        <a:latin typeface="Cambria Math" panose="02040503050406030204" pitchFamily="18" charset="0"/>
                      </a:rPr>
                      <m:t>𝑪𝒐𝒎</m:t>
                    </m:r>
                    <m:sSub>
                      <m:sSubPr>
                        <m:ctrlPr>
                          <a:rPr lang="en-US" altLang="zh-CN" sz="1600" b="1" i="1">
                            <a:latin typeface="Cambria Math" panose="02040503050406030204" pitchFamily="18" charset="0"/>
                          </a:rPr>
                        </m:ctrlPr>
                      </m:sSubPr>
                      <m:e>
                        <m:r>
                          <a:rPr lang="en-US" altLang="zh-CN" sz="1600" b="1" i="1">
                            <a:latin typeface="Cambria Math" panose="02040503050406030204" pitchFamily="18" charset="0"/>
                          </a:rPr>
                          <m:t>𝒑</m:t>
                        </m:r>
                      </m:e>
                      <m:sub>
                        <m:r>
                          <a:rPr lang="en-US" altLang="zh-CN" sz="1600" b="1" i="1" smtClean="0">
                            <a:latin typeface="Cambria Math" panose="02040503050406030204" pitchFamily="18" charset="0"/>
                          </a:rPr>
                          <m:t>𝑵𝑳𝑳</m:t>
                        </m:r>
                      </m:sub>
                    </m:sSub>
                  </m:oMath>
                </a14:m>
                <a:r>
                  <a:rPr lang="en-US" altLang="zh-CN" sz="1600" b="1" dirty="0"/>
                  <a:t> drops to zero much faster than that of </a:t>
                </a:r>
                <a14:m>
                  <m:oMath xmlns:m="http://schemas.openxmlformats.org/officeDocument/2006/math">
                    <m:r>
                      <a:rPr lang="en-US" altLang="zh-CN" sz="1600" b="1" i="1">
                        <a:latin typeface="Cambria Math" panose="02040503050406030204" pitchFamily="18" charset="0"/>
                      </a:rPr>
                      <m:t>𝑳𝑳𝑴</m:t>
                    </m:r>
                    <m:r>
                      <a:rPr lang="en-US" altLang="zh-CN" sz="1600" b="1" i="1">
                        <a:latin typeface="Cambria Math" panose="02040503050406030204" pitchFamily="18" charset="0"/>
                      </a:rPr>
                      <m:t>𝟐</m:t>
                    </m:r>
                    <m:r>
                      <a:rPr lang="en-US" altLang="zh-CN" sz="1600" b="1" i="1">
                        <a:latin typeface="Cambria Math" panose="02040503050406030204" pitchFamily="18" charset="0"/>
                      </a:rPr>
                      <m:t>𝑪𝒐𝒎</m:t>
                    </m:r>
                    <m:sSub>
                      <m:sSubPr>
                        <m:ctrlPr>
                          <a:rPr lang="en-US" altLang="zh-CN" sz="1600" b="1" i="1">
                            <a:latin typeface="Cambria Math" panose="02040503050406030204" pitchFamily="18" charset="0"/>
                          </a:rPr>
                        </m:ctrlPr>
                      </m:sSubPr>
                      <m:e>
                        <m:r>
                          <a:rPr lang="en-US" altLang="zh-CN" sz="1600" b="1" i="1">
                            <a:latin typeface="Cambria Math" panose="02040503050406030204" pitchFamily="18" charset="0"/>
                          </a:rPr>
                          <m:t>𝒑</m:t>
                        </m:r>
                      </m:e>
                      <m:sub>
                        <m:r>
                          <a:rPr lang="en-US" altLang="zh-CN" sz="1600" b="1" i="1" smtClean="0">
                            <a:latin typeface="Cambria Math" panose="02040503050406030204" pitchFamily="18" charset="0"/>
                          </a:rPr>
                          <m:t>𝑲</m:t>
                        </m:r>
                        <m:r>
                          <a:rPr lang="en-US" altLang="zh-CN" sz="1600" b="1" i="1">
                            <a:latin typeface="Cambria Math" panose="02040503050406030204" pitchFamily="18" charset="0"/>
                          </a:rPr>
                          <m:t>𝑳</m:t>
                        </m:r>
                      </m:sub>
                    </m:sSub>
                  </m:oMath>
                </a14:m>
                <a:r>
                  <a:rPr lang="en-US" altLang="zh-CN" sz="1600" b="1" dirty="0"/>
                  <a:t>, indicating that </a:t>
                </a:r>
                <a14:m>
                  <m:oMath xmlns:m="http://schemas.openxmlformats.org/officeDocument/2006/math">
                    <m:r>
                      <a:rPr lang="en-US" altLang="zh-CN" sz="1600" b="1" i="1">
                        <a:latin typeface="Cambria Math" panose="02040503050406030204" pitchFamily="18" charset="0"/>
                      </a:rPr>
                      <m:t>𝑳𝑳𝑴</m:t>
                    </m:r>
                    <m:r>
                      <a:rPr lang="en-US" altLang="zh-CN" sz="1600" b="1" i="1">
                        <a:latin typeface="Cambria Math" panose="02040503050406030204" pitchFamily="18" charset="0"/>
                      </a:rPr>
                      <m:t>𝟐</m:t>
                    </m:r>
                    <m:r>
                      <a:rPr lang="en-US" altLang="zh-CN" sz="1600" b="1" i="1">
                        <a:latin typeface="Cambria Math" panose="02040503050406030204" pitchFamily="18" charset="0"/>
                      </a:rPr>
                      <m:t>𝑪𝒐𝒎</m:t>
                    </m:r>
                    <m:sSub>
                      <m:sSubPr>
                        <m:ctrlPr>
                          <a:rPr lang="en-US" altLang="zh-CN" sz="1600" b="1" i="1">
                            <a:latin typeface="Cambria Math" panose="02040503050406030204" pitchFamily="18" charset="0"/>
                          </a:rPr>
                        </m:ctrlPr>
                      </m:sSubPr>
                      <m:e>
                        <m:r>
                          <a:rPr lang="en-US" altLang="zh-CN" sz="1600" b="1" i="1">
                            <a:latin typeface="Cambria Math" panose="02040503050406030204" pitchFamily="18" charset="0"/>
                          </a:rPr>
                          <m:t>𝒑</m:t>
                        </m:r>
                      </m:e>
                      <m:sub>
                        <m:r>
                          <a:rPr lang="en-US" altLang="zh-CN" sz="1600" b="1" i="1">
                            <a:latin typeface="Cambria Math" panose="02040503050406030204" pitchFamily="18" charset="0"/>
                          </a:rPr>
                          <m:t>𝑵𝑳𝑳</m:t>
                        </m:r>
                      </m:sub>
                    </m:sSub>
                  </m:oMath>
                </a14:m>
                <a:r>
                  <a:rPr lang="zh-CN" altLang="en-US" sz="1600" dirty="0"/>
                  <a:t> </a:t>
                </a:r>
                <a:r>
                  <a:rPr lang="en-US" altLang="zh-CN" sz="1600" b="1" dirty="0"/>
                  <a:t>suffers more </a:t>
                </a:r>
                <a:r>
                  <a:rPr lang="en-US" altLang="zh-CN" sz="1600" b="1" dirty="0">
                    <a:solidFill>
                      <a:srgbClr val="FF0000"/>
                    </a:solidFill>
                  </a:rPr>
                  <a:t>severe dimensional collapse</a:t>
                </a:r>
                <a:r>
                  <a:rPr lang="en-US" altLang="zh-CN" sz="1600" b="1" dirty="0"/>
                  <a:t>. </a:t>
                </a:r>
                <a:r>
                  <a:rPr lang="zh-CN" altLang="en-US" sz="1600" dirty="0"/>
                  <a:t> </a:t>
                </a:r>
              </a:p>
            </p:txBody>
          </p:sp>
        </mc:Choice>
        <mc:Fallback xmlns="">
          <p:sp>
            <p:nvSpPr>
              <p:cNvPr id="18" name="文本框 17">
                <a:extLst>
                  <a:ext uri="{FF2B5EF4-FFF2-40B4-BE49-F238E27FC236}">
                    <a16:creationId xmlns:a16="http://schemas.microsoft.com/office/drawing/2014/main" id="{9000A202-BA27-4983-B583-00000E4A9DAE}"/>
                  </a:ext>
                </a:extLst>
              </p:cNvPr>
              <p:cNvSpPr txBox="1">
                <a:spLocks noRot="1" noChangeAspect="1" noMove="1" noResize="1" noEditPoints="1" noAdjustHandles="1" noChangeArrowheads="1" noChangeShapeType="1" noTextEdit="1"/>
              </p:cNvSpPr>
              <p:nvPr/>
            </p:nvSpPr>
            <p:spPr>
              <a:xfrm>
                <a:off x="661189" y="5260481"/>
                <a:ext cx="4858140" cy="1077218"/>
              </a:xfrm>
              <a:prstGeom prst="rect">
                <a:avLst/>
              </a:prstGeom>
              <a:blipFill>
                <a:blip r:embed="rId7"/>
                <a:stretch>
                  <a:fillRect l="-627" t="-1695" r="-1004" b="-621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文本框 18">
                <a:extLst>
                  <a:ext uri="{FF2B5EF4-FFF2-40B4-BE49-F238E27FC236}">
                    <a16:creationId xmlns:a16="http://schemas.microsoft.com/office/drawing/2014/main" id="{94BD6EC1-204C-427C-AD6D-ED2D6E461840}"/>
                  </a:ext>
                </a:extLst>
              </p:cNvPr>
              <p:cNvSpPr txBox="1"/>
              <p:nvPr/>
            </p:nvSpPr>
            <p:spPr>
              <a:xfrm>
                <a:off x="5955508" y="5073285"/>
                <a:ext cx="6109163" cy="1569660"/>
              </a:xfrm>
              <a:prstGeom prst="rect">
                <a:avLst/>
              </a:prstGeom>
              <a:noFill/>
            </p:spPr>
            <p:txBody>
              <a:bodyPr wrap="square">
                <a:spAutoFit/>
              </a:bodyPr>
              <a:lstStyle/>
              <a:p>
                <a:r>
                  <a:rPr lang="en-US" altLang="zh-CN" sz="1600" b="1" dirty="0"/>
                  <a:t>These figures show the correlation between memory tokens for </a:t>
                </a:r>
                <a14:m>
                  <m:oMath xmlns:m="http://schemas.openxmlformats.org/officeDocument/2006/math">
                    <m:r>
                      <a:rPr lang="en-US" altLang="zh-CN" sz="1600" b="1" i="1" smtClean="0">
                        <a:latin typeface="Cambria Math" panose="02040503050406030204" pitchFamily="18" charset="0"/>
                      </a:rPr>
                      <m:t>𝑳𝑳𝑴</m:t>
                    </m:r>
                    <m:r>
                      <a:rPr lang="en-US" altLang="zh-CN" sz="1600" b="1" i="1" smtClean="0">
                        <a:latin typeface="Cambria Math" panose="02040503050406030204" pitchFamily="18" charset="0"/>
                      </a:rPr>
                      <m:t>𝟐</m:t>
                    </m:r>
                    <m:r>
                      <a:rPr lang="en-US" altLang="zh-CN" sz="1600" b="1" i="1" smtClean="0">
                        <a:latin typeface="Cambria Math" panose="02040503050406030204" pitchFamily="18" charset="0"/>
                      </a:rPr>
                      <m:t>𝑪𝒐𝒎</m:t>
                    </m:r>
                    <m:sSub>
                      <m:sSubPr>
                        <m:ctrlPr>
                          <a:rPr lang="en-US" altLang="zh-CN" sz="1600" b="1" i="1">
                            <a:latin typeface="Cambria Math" panose="02040503050406030204" pitchFamily="18" charset="0"/>
                          </a:rPr>
                        </m:ctrlPr>
                      </m:sSubPr>
                      <m:e>
                        <m:r>
                          <a:rPr lang="en-US" altLang="zh-CN" sz="1600" b="1" i="1">
                            <a:latin typeface="Cambria Math" panose="02040503050406030204" pitchFamily="18" charset="0"/>
                          </a:rPr>
                          <m:t>𝒑</m:t>
                        </m:r>
                      </m:e>
                      <m:sub>
                        <m:r>
                          <a:rPr lang="en-US" altLang="zh-CN" sz="1600" b="1" i="1" smtClean="0">
                            <a:latin typeface="Cambria Math" panose="02040503050406030204" pitchFamily="18" charset="0"/>
                          </a:rPr>
                          <m:t>𝑲</m:t>
                        </m:r>
                        <m:r>
                          <a:rPr lang="en-US" altLang="zh-CN" sz="1600" b="1" i="1">
                            <a:latin typeface="Cambria Math" panose="02040503050406030204" pitchFamily="18" charset="0"/>
                          </a:rPr>
                          <m:t>𝑳</m:t>
                        </m:r>
                      </m:sub>
                    </m:sSub>
                  </m:oMath>
                </a14:m>
                <a:r>
                  <a:rPr lang="zh-CN" altLang="en-US" sz="1600" dirty="0"/>
                  <a:t> </a:t>
                </a:r>
                <a:r>
                  <a:rPr lang="en-US" altLang="zh-CN" sz="1600" b="1" dirty="0"/>
                  <a:t>and </a:t>
                </a:r>
                <a14:m>
                  <m:oMath xmlns:m="http://schemas.openxmlformats.org/officeDocument/2006/math">
                    <m:r>
                      <a:rPr lang="en-US" altLang="zh-CN" sz="1600" b="1" i="1">
                        <a:latin typeface="Cambria Math" panose="02040503050406030204" pitchFamily="18" charset="0"/>
                      </a:rPr>
                      <m:t>𝑳𝑳𝑴</m:t>
                    </m:r>
                    <m:r>
                      <a:rPr lang="en-US" altLang="zh-CN" sz="1600" b="1" i="1">
                        <a:latin typeface="Cambria Math" panose="02040503050406030204" pitchFamily="18" charset="0"/>
                      </a:rPr>
                      <m:t>𝟐</m:t>
                    </m:r>
                    <m:r>
                      <a:rPr lang="en-US" altLang="zh-CN" sz="1600" b="1" i="1">
                        <a:latin typeface="Cambria Math" panose="02040503050406030204" pitchFamily="18" charset="0"/>
                      </a:rPr>
                      <m:t>𝑪𝒐𝒎</m:t>
                    </m:r>
                    <m:sSub>
                      <m:sSubPr>
                        <m:ctrlPr>
                          <a:rPr lang="en-US" altLang="zh-CN" sz="1600" b="1" i="1">
                            <a:latin typeface="Cambria Math" panose="02040503050406030204" pitchFamily="18" charset="0"/>
                          </a:rPr>
                        </m:ctrlPr>
                      </m:sSubPr>
                      <m:e>
                        <m:r>
                          <a:rPr lang="en-US" altLang="zh-CN" sz="1600" b="1" i="1">
                            <a:latin typeface="Cambria Math" panose="02040503050406030204" pitchFamily="18" charset="0"/>
                          </a:rPr>
                          <m:t>𝒑</m:t>
                        </m:r>
                      </m:e>
                      <m:sub>
                        <m:r>
                          <a:rPr lang="en-US" altLang="zh-CN" sz="1600" b="1" i="1">
                            <a:latin typeface="Cambria Math" panose="02040503050406030204" pitchFamily="18" charset="0"/>
                          </a:rPr>
                          <m:t>𝑵𝑳𝑳</m:t>
                        </m:r>
                      </m:sub>
                    </m:sSub>
                  </m:oMath>
                </a14:m>
                <a:r>
                  <a:rPr lang="en-US" altLang="zh-CN" sz="1600" b="1" dirty="0"/>
                  <a:t>, indicating high similarity between the memory tokens from </a:t>
                </a:r>
                <a14:m>
                  <m:oMath xmlns:m="http://schemas.openxmlformats.org/officeDocument/2006/math">
                    <m:r>
                      <a:rPr lang="en-US" altLang="zh-CN" sz="1600" b="1" i="1">
                        <a:latin typeface="Cambria Math" panose="02040503050406030204" pitchFamily="18" charset="0"/>
                      </a:rPr>
                      <m:t>𝑳𝑳𝑴</m:t>
                    </m:r>
                    <m:r>
                      <a:rPr lang="en-US" altLang="zh-CN" sz="1600" b="1" i="1">
                        <a:latin typeface="Cambria Math" panose="02040503050406030204" pitchFamily="18" charset="0"/>
                      </a:rPr>
                      <m:t>𝟐</m:t>
                    </m:r>
                    <m:r>
                      <a:rPr lang="en-US" altLang="zh-CN" sz="1600" b="1" i="1">
                        <a:latin typeface="Cambria Math" panose="02040503050406030204" pitchFamily="18" charset="0"/>
                      </a:rPr>
                      <m:t>𝑪𝒐𝒎</m:t>
                    </m:r>
                    <m:sSub>
                      <m:sSubPr>
                        <m:ctrlPr>
                          <a:rPr lang="en-US" altLang="zh-CN" sz="1600" b="1" i="1">
                            <a:latin typeface="Cambria Math" panose="02040503050406030204" pitchFamily="18" charset="0"/>
                          </a:rPr>
                        </m:ctrlPr>
                      </m:sSubPr>
                      <m:e>
                        <m:r>
                          <a:rPr lang="en-US" altLang="zh-CN" sz="1600" b="1" i="1">
                            <a:latin typeface="Cambria Math" panose="02040503050406030204" pitchFamily="18" charset="0"/>
                          </a:rPr>
                          <m:t>𝒑</m:t>
                        </m:r>
                      </m:e>
                      <m:sub>
                        <m:r>
                          <a:rPr lang="en-US" altLang="zh-CN" sz="1600" b="1" i="1">
                            <a:latin typeface="Cambria Math" panose="02040503050406030204" pitchFamily="18" charset="0"/>
                          </a:rPr>
                          <m:t>𝑵𝑳𝑳</m:t>
                        </m:r>
                      </m:sub>
                    </m:sSub>
                  </m:oMath>
                </a14:m>
                <a:r>
                  <a:rPr lang="en-US" altLang="zh-CN" sz="1600" b="1" dirty="0"/>
                  <a:t>. This suggests that </a:t>
                </a:r>
                <a:r>
                  <a:rPr lang="en-US" altLang="zh-CN" sz="1600" b="1" dirty="0">
                    <a:solidFill>
                      <a:srgbClr val="FF0000"/>
                    </a:solidFill>
                  </a:rPr>
                  <a:t>token similarity</a:t>
                </a:r>
                <a:r>
                  <a:rPr lang="en-US" altLang="zh-CN" sz="1600" b="1" dirty="0"/>
                  <a:t> </a:t>
                </a:r>
                <a:r>
                  <a:rPr lang="en-US" altLang="zh-CN" sz="1600" b="1" dirty="0">
                    <a:solidFill>
                      <a:srgbClr val="FF0000"/>
                    </a:solidFill>
                  </a:rPr>
                  <a:t>significantly impacts the downstream task</a:t>
                </a:r>
                <a:r>
                  <a:rPr lang="en-US" altLang="zh-CN" sz="1600" b="1" dirty="0"/>
                  <a:t>. To address this, we propose a </a:t>
                </a:r>
                <a:r>
                  <a:rPr lang="en-US" altLang="zh-CN" sz="1600" b="1" dirty="0">
                    <a:solidFill>
                      <a:srgbClr val="FF0000"/>
                    </a:solidFill>
                  </a:rPr>
                  <a:t>clustering-then-merging</a:t>
                </a:r>
                <a:r>
                  <a:rPr lang="en-US" altLang="zh-CN" sz="1600" b="1" dirty="0"/>
                  <a:t> method, which enhances overall performance.</a:t>
                </a:r>
                <a:endParaRPr lang="zh-CN" altLang="en-US" sz="1600" dirty="0"/>
              </a:p>
            </p:txBody>
          </p:sp>
        </mc:Choice>
        <mc:Fallback xmlns="">
          <p:sp>
            <p:nvSpPr>
              <p:cNvPr id="19" name="文本框 18">
                <a:extLst>
                  <a:ext uri="{FF2B5EF4-FFF2-40B4-BE49-F238E27FC236}">
                    <a16:creationId xmlns:a16="http://schemas.microsoft.com/office/drawing/2014/main" id="{94BD6EC1-204C-427C-AD6D-ED2D6E461840}"/>
                  </a:ext>
                </a:extLst>
              </p:cNvPr>
              <p:cNvSpPr txBox="1">
                <a:spLocks noRot="1" noChangeAspect="1" noMove="1" noResize="1" noEditPoints="1" noAdjustHandles="1" noChangeArrowheads="1" noChangeShapeType="1" noTextEdit="1"/>
              </p:cNvSpPr>
              <p:nvPr/>
            </p:nvSpPr>
            <p:spPr>
              <a:xfrm>
                <a:off x="5955508" y="5073285"/>
                <a:ext cx="6109163" cy="1569660"/>
              </a:xfrm>
              <a:prstGeom prst="rect">
                <a:avLst/>
              </a:prstGeom>
              <a:blipFill>
                <a:blip r:embed="rId8"/>
                <a:stretch>
                  <a:fillRect l="-599" t="-1163" r="-1297" b="-3876"/>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470127488"/>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1174</TotalTime>
  <Words>1455</Words>
  <Application>Microsoft Office PowerPoint</Application>
  <PresentationFormat>宽屏</PresentationFormat>
  <Paragraphs>93</Paragraphs>
  <Slides>9</Slides>
  <Notes>9</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9</vt:i4>
      </vt:variant>
    </vt:vector>
  </HeadingPairs>
  <TitlesOfParts>
    <vt:vector size="17" baseType="lpstr">
      <vt:lpstr>NimbusRomNo9L-Regu</vt:lpstr>
      <vt:lpstr>NimbusRomNo9L-ReguItal</vt:lpstr>
      <vt:lpstr>等线</vt:lpstr>
      <vt:lpstr>等线 Light</vt:lpstr>
      <vt:lpstr>微软雅黑</vt:lpstr>
      <vt:lpstr>Arial</vt:lpstr>
      <vt:lpstr>Cambria Math</vt:lpstr>
      <vt:lpstr>Office 主题​​</vt:lpstr>
      <vt:lpstr>Learning to Compress: Unlocking the Potential of Large Language Models for Text Representation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yeqin zhang</dc:creator>
  <cp:lastModifiedBy>yeqin zhang</cp:lastModifiedBy>
  <cp:revision>155</cp:revision>
  <dcterms:created xsi:type="dcterms:W3CDTF">2025-11-20T10:21:09Z</dcterms:created>
  <dcterms:modified xsi:type="dcterms:W3CDTF">2025-12-20T02:45:36Z</dcterms:modified>
</cp:coreProperties>
</file>